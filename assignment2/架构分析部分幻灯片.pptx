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8" r:id="rId2"/>
    <p:sldId id="299" r:id="rId3"/>
    <p:sldId id="300" r:id="rId4"/>
    <p:sldId id="302" r:id="rId5"/>
    <p:sldId id="303" r:id="rId6"/>
    <p:sldId id="304" r:id="rId7"/>
    <p:sldId id="305" r:id="rId8"/>
    <p:sldId id="283" r:id="rId9"/>
    <p:sldId id="306" r:id="rId10"/>
  </p:sldIdLst>
  <p:sldSz cx="9144000" cy="5219700"/>
  <p:notesSz cx="6858000" cy="91440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293B"/>
    <a:srgbClr val="181717"/>
    <a:srgbClr val="7B2135"/>
    <a:srgbClr val="5A329B"/>
    <a:srgbClr val="241634"/>
    <a:srgbClr val="6E49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57" autoAdjust="0"/>
    <p:restoredTop sz="94660"/>
  </p:normalViewPr>
  <p:slideViewPr>
    <p:cSldViewPr snapToGrid="0">
      <p:cViewPr varScale="1">
        <p:scale>
          <a:sx n="183" d="100"/>
          <a:sy n="183" d="100"/>
        </p:scale>
        <p:origin x="156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DAE62E-7EB6-4B34-B4C2-DFB07C2382DE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1143000"/>
            <a:ext cx="5407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2F5244-B09F-4C52-B5A7-9F8A5BFD4A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F5244-B09F-4C52-B5A7-9F8A5BFD4AB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05A75-1062-8C5E-CDE3-20AD79A2D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95EFA38-2CD6-E89A-275B-17623842BB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8534E1-97EB-C26F-3D5D-6D4BF1AD56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E87BBA-94BC-2594-D3DC-089AF1D0AF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F5244-B09F-4C52-B5A7-9F8A5BFD4AB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432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1AA24-855E-CA46-751C-047671E01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A8BFAD-D4E8-E6C3-11B4-4CB94A229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AE3C64-4BF1-EC39-47B7-1A9948998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57C440-7C2E-8BC6-8DF9-64E9FFBE27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F5244-B09F-4C52-B5A7-9F8A5BFD4AB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556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6C5FF-F02E-FFD9-84CA-9A960F645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809080-7F25-E7E6-E53A-961127E4B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F14B91-C669-E504-047E-C470704CF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7C158B-226C-F169-6B23-723A27CEAF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F5244-B09F-4C52-B5A7-9F8A5BFD4AB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6105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E120B-8231-0A95-2ACD-ACF0FCCD9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024D02-9D46-49D4-63D7-A6554A220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22A79F-05DC-AA06-83AF-A630FDC1C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CC6804-6EFF-48C8-3D22-78F5FCCDF3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F5244-B09F-4C52-B5A7-9F8A5BFD4AB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640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C741A-396B-31C4-D3EA-17E1D8541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4A1671-B58A-DEE1-F1C8-FCB1F7BD7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1DE415-23C9-2D8E-B766-E2FDD9722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842D05-A6E9-67C9-C76D-5E1751AAE8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F5244-B09F-4C52-B5A7-9F8A5BFD4AB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53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5F90B-C2CB-9597-B54B-AC0DED721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6DAB7C-CC70-2761-21AB-BF9DA4E8B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DC80A5-D4AA-4980-FA24-3A55415A9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2245AA-05B7-FD33-7585-75046232B3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F5244-B09F-4C52-B5A7-9F8A5BFD4AB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441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F5244-B09F-4C52-B5A7-9F8A5BFD4ABA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CF7B0-4A3C-04AE-7F58-071C2DA70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A923EE-C58B-9597-014B-1B660A413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B43F8D-704A-6742-1A11-EAC7D877A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AFC595-2415-9901-396F-EE01D71F42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F5244-B09F-4C52-B5A7-9F8A5BFD4AB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786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54243"/>
            <a:ext cx="6858000" cy="1817229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41551"/>
            <a:ext cx="6858000" cy="126021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ED2DC-3906-401D-BAE9-AB5092743196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3583-002B-40AE-8761-6C0006826F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ED2DC-3906-401D-BAE9-AB5092743196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3583-002B-40AE-8761-6C0006826F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301301"/>
            <a:ext cx="7886700" cy="217125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93092"/>
            <a:ext cx="7886700" cy="114180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ED2DC-3906-401D-BAE9-AB5092743196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3583-002B-40AE-8761-6C0006826F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89503"/>
            <a:ext cx="3886200" cy="331185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89503"/>
            <a:ext cx="3886200" cy="331185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ED2DC-3906-401D-BAE9-AB5092743196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3583-002B-40AE-8761-6C0006826F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7901"/>
            <a:ext cx="7886700" cy="10089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79552"/>
            <a:ext cx="3868340" cy="62708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906640"/>
            <a:ext cx="3868340" cy="280438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79552"/>
            <a:ext cx="3887391" cy="62708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906640"/>
            <a:ext cx="3887391" cy="280438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ED2DC-3906-401D-BAE9-AB5092743196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3583-002B-40AE-8761-6C0006826F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ED2DC-3906-401D-BAE9-AB5092743196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3583-002B-40AE-8761-6C0006826F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ED2DC-3906-401D-BAE9-AB5092743196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3583-002B-40AE-8761-6C0006826F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7980"/>
            <a:ext cx="2949178" cy="121793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51541"/>
            <a:ext cx="4629150" cy="370937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65910"/>
            <a:ext cx="2949178" cy="290104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ED2DC-3906-401D-BAE9-AB5092743196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3583-002B-40AE-8761-6C0006826F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7980"/>
            <a:ext cx="2949178" cy="121793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51541"/>
            <a:ext cx="4629150" cy="3709370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65910"/>
            <a:ext cx="2949178" cy="290104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ED2DC-3906-401D-BAE9-AB5092743196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3583-002B-40AE-8761-6C0006826F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ED2DC-3906-401D-BAE9-AB5092743196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3583-002B-40AE-8761-6C0006826F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7901"/>
            <a:ext cx="1971675" cy="442345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7901"/>
            <a:ext cx="5800725" cy="442345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ED2DC-3906-401D-BAE9-AB5092743196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3583-002B-40AE-8761-6C0006826F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7901"/>
            <a:ext cx="7886700" cy="1008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89503"/>
            <a:ext cx="7886700" cy="3311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837889"/>
            <a:ext cx="2057400" cy="277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6ED2DC-3906-401D-BAE9-AB5092743196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837889"/>
            <a:ext cx="3086100" cy="277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837889"/>
            <a:ext cx="2057400" cy="277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13583-002B-40AE-8761-6C0006826F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4520485" cy="5219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99752" y="1574963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5" name="矩形 4"/>
          <p:cNvSpPr/>
          <p:nvPr/>
        </p:nvSpPr>
        <p:spPr>
          <a:xfrm>
            <a:off x="412079" y="2186589"/>
            <a:ext cx="318869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spc="6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Architectural Analysis</a:t>
            </a:r>
            <a:endParaRPr lang="zh-CN" altLang="en-US" sz="1000" spc="600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îŝḷîḓé-矩形: 圆角 70"/>
          <p:cNvSpPr/>
          <p:nvPr/>
        </p:nvSpPr>
        <p:spPr>
          <a:xfrm>
            <a:off x="412079" y="3585366"/>
            <a:ext cx="1015012" cy="319369"/>
          </a:xfrm>
          <a:prstGeom prst="roundRect">
            <a:avLst>
              <a:gd name="adj" fmla="val 13693"/>
            </a:avLst>
          </a:prstGeom>
          <a:solidFill>
            <a:srgbClr val="7B21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TextBox 22"/>
          <p:cNvSpPr txBox="1"/>
          <p:nvPr/>
        </p:nvSpPr>
        <p:spPr>
          <a:xfrm>
            <a:off x="399752" y="2521216"/>
            <a:ext cx="4028135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50"/>
              </a:lnSpc>
            </a:pPr>
            <a:r>
              <a:rPr lang="en-US" sz="1000" dirty="0">
                <a:latin typeface="Lato Light" charset="0"/>
                <a:ea typeface="Lato Light" charset="0"/>
                <a:cs typeface="Lato Light" charset="0"/>
              </a:rPr>
              <a:t>Entrepreneurial activities differ substantially depending on the type of organization and creativity involved. Entrepreneurship ranges in scale from solo.</a:t>
            </a:r>
          </a:p>
        </p:txBody>
      </p:sp>
      <p:pic>
        <p:nvPicPr>
          <p:cNvPr id="8" name="图片 7" descr="C:\Users\Administrator\Desktop\同济图片\微信图片_2020060914594021.jpg微信图片_2020060914594021"/>
          <p:cNvPicPr>
            <a:picLocks noChangeAspect="1"/>
          </p:cNvPicPr>
          <p:nvPr/>
        </p:nvPicPr>
        <p:blipFill>
          <a:blip r:embed="rId3"/>
          <a:srcRect t="12491" b="2602"/>
          <a:stretch>
            <a:fillRect/>
          </a:stretch>
        </p:blipFill>
        <p:spPr>
          <a:xfrm>
            <a:off x="4519930" y="-19050"/>
            <a:ext cx="4624070" cy="5235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7F961-6DC4-181E-A3B4-14CF72D92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îŝḷîḓé-矩形: 圆角 70">
            <a:extLst>
              <a:ext uri="{FF2B5EF4-FFF2-40B4-BE49-F238E27FC236}">
                <a16:creationId xmlns:a16="http://schemas.microsoft.com/office/drawing/2014/main" id="{E3996499-1C48-5AE3-EA7E-84F0E8275EA3}"/>
              </a:ext>
            </a:extLst>
          </p:cNvPr>
          <p:cNvSpPr/>
          <p:nvPr/>
        </p:nvSpPr>
        <p:spPr>
          <a:xfrm>
            <a:off x="280159" y="150248"/>
            <a:ext cx="506920" cy="160331"/>
          </a:xfrm>
          <a:prstGeom prst="roundRect">
            <a:avLst>
              <a:gd name="adj" fmla="val 13693"/>
            </a:avLst>
          </a:prstGeom>
          <a:solidFill>
            <a:srgbClr val="7B2135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 fontScale="97500" lnSpcReduction="10000"/>
          </a:bodyPr>
          <a:lstStyle/>
          <a:p>
            <a:pPr algn="ctr"/>
            <a:r>
              <a:rPr lang="en-US" altLang="zh-CN" sz="102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zh-CN" altLang="en-US" sz="102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427085-EB70-904F-EE08-EEF816C383C8}"/>
              </a:ext>
            </a:extLst>
          </p:cNvPr>
          <p:cNvSpPr txBox="1"/>
          <p:nvPr/>
        </p:nvSpPr>
        <p:spPr>
          <a:xfrm>
            <a:off x="870205" y="113586"/>
            <a:ext cx="694852" cy="2452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95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DA45FBF-C3EF-889F-FC48-53C8E902F254}"/>
              </a:ext>
            </a:extLst>
          </p:cNvPr>
          <p:cNvSpPr/>
          <p:nvPr/>
        </p:nvSpPr>
        <p:spPr>
          <a:xfrm>
            <a:off x="1457886" y="113586"/>
            <a:ext cx="1492716" cy="2454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995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Architectural Analysis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E8DC1F05-AAB0-553E-ED2C-110199C48997}"/>
              </a:ext>
            </a:extLst>
          </p:cNvPr>
          <p:cNvSpPr txBox="1"/>
          <p:nvPr/>
        </p:nvSpPr>
        <p:spPr>
          <a:xfrm>
            <a:off x="4572000" y="1172660"/>
            <a:ext cx="3989241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本系统采用经典的多层架构，确保各层职责单一、高度解耦，易于维护和扩展。</a:t>
            </a:r>
            <a:endParaRPr lang="en-US" altLang="zh-CN" sz="10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>
              <a:spcBef>
                <a:spcPts val="600"/>
              </a:spcBef>
            </a:pPr>
            <a:endParaRPr lang="en-US" altLang="zh-CN" sz="10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>
              <a:spcBef>
                <a:spcPts val="600"/>
              </a:spcBef>
            </a:pPr>
            <a:endParaRPr lang="en-US" altLang="zh-CN" sz="10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展现层 </a:t>
            </a:r>
            <a:r>
              <a:rPr lang="en-US" altLang="zh-CN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(Presentation Layer)</a:t>
            </a: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负责所有面向用户的交互（</a:t>
            </a:r>
            <a:r>
              <a:rPr lang="en-US" altLang="zh-CN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UI</a:t>
            </a: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）。</a:t>
            </a:r>
            <a:endParaRPr lang="en-US" altLang="zh-CN" sz="10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应用服务层 </a:t>
            </a:r>
            <a:r>
              <a:rPr lang="en-US" altLang="zh-CN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(Application Service Layer)</a:t>
            </a: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作为协调者，编排业务用例流程、管理事务和权限。</a:t>
            </a:r>
            <a:endParaRPr lang="en-US" altLang="zh-CN" sz="10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领域核心层 </a:t>
            </a:r>
            <a:r>
              <a:rPr lang="en-US" altLang="zh-CN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(Domain Core Layer)</a:t>
            </a: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系统的业务核心，封装纯粹的业务规则、逻辑和实体。</a:t>
            </a:r>
            <a:endParaRPr lang="en-US" altLang="zh-CN" sz="10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数据持久化层 </a:t>
            </a:r>
            <a:r>
              <a:rPr lang="en-US" altLang="zh-CN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(Data Persistence Layer)</a:t>
            </a: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提供数据存储（数据库、缓存）的具体实现。</a:t>
            </a:r>
            <a:endParaRPr lang="en-US" altLang="zh-CN" sz="10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外部集成层 </a:t>
            </a:r>
            <a:r>
              <a:rPr lang="en-US" altLang="zh-CN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(External Integration Layer)</a:t>
            </a: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负责与所有第三方外部系统（学籍、支付、门禁）通信。</a:t>
            </a:r>
            <a:endParaRPr lang="en-US" altLang="zh-CN" sz="10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pic>
        <p:nvPicPr>
          <p:cNvPr id="4" name="图片 3" descr="C:\Users\Administrator\Desktop\同济图片\图片1.png图片1">
            <a:extLst>
              <a:ext uri="{FF2B5EF4-FFF2-40B4-BE49-F238E27FC236}">
                <a16:creationId xmlns:a16="http://schemas.microsoft.com/office/drawing/2014/main" id="{7F169F65-FF54-92E6-7C14-168346A586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177530" y="953"/>
            <a:ext cx="965200" cy="965835"/>
          </a:xfrm>
          <a:prstGeom prst="rect">
            <a:avLst/>
          </a:prstGeom>
        </p:spPr>
      </p:pic>
      <p:pic>
        <p:nvPicPr>
          <p:cNvPr id="64" name="图片 63" descr="图形用户界面, 图示&#10;&#10;AI 生成的内容可能不正确。">
            <a:extLst>
              <a:ext uri="{FF2B5EF4-FFF2-40B4-BE49-F238E27FC236}">
                <a16:creationId xmlns:a16="http://schemas.microsoft.com/office/drawing/2014/main" id="{1AF1024C-26FC-6A7A-9AAC-5B20B88D0A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33" y="566543"/>
            <a:ext cx="3633526" cy="434680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376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C37D2-5AA3-28DD-9A0E-F58D1B2BD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9B6124B3-C3EB-A8B1-C9C1-4312128B158B}"/>
              </a:ext>
            </a:extLst>
          </p:cNvPr>
          <p:cNvSpPr/>
          <p:nvPr/>
        </p:nvSpPr>
        <p:spPr>
          <a:xfrm>
            <a:off x="3738565" y="3842582"/>
            <a:ext cx="2177864" cy="922968"/>
          </a:xfrm>
          <a:prstGeom prst="roundRect">
            <a:avLst/>
          </a:prstGeom>
          <a:solidFill>
            <a:srgbClr val="7B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064BBCCB-4EA1-4D29-EC46-1604D72E443F}"/>
              </a:ext>
            </a:extLst>
          </p:cNvPr>
          <p:cNvSpPr/>
          <p:nvPr/>
        </p:nvSpPr>
        <p:spPr>
          <a:xfrm>
            <a:off x="5834787" y="1658587"/>
            <a:ext cx="2177864" cy="922968"/>
          </a:xfrm>
          <a:prstGeom prst="roundRect">
            <a:avLst/>
          </a:prstGeom>
          <a:solidFill>
            <a:srgbClr val="7B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E68CA8FC-3B93-D979-D66E-9E7ABE3F7BBB}"/>
              </a:ext>
            </a:extLst>
          </p:cNvPr>
          <p:cNvSpPr/>
          <p:nvPr/>
        </p:nvSpPr>
        <p:spPr>
          <a:xfrm>
            <a:off x="870205" y="1658587"/>
            <a:ext cx="2177864" cy="922968"/>
          </a:xfrm>
          <a:prstGeom prst="roundRect">
            <a:avLst/>
          </a:prstGeom>
          <a:solidFill>
            <a:srgbClr val="7B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îŝḷîḓé-矩形: 圆角 70">
            <a:extLst>
              <a:ext uri="{FF2B5EF4-FFF2-40B4-BE49-F238E27FC236}">
                <a16:creationId xmlns:a16="http://schemas.microsoft.com/office/drawing/2014/main" id="{9803FB2B-47E0-7B8E-0520-B3CB28ACAB2B}"/>
              </a:ext>
            </a:extLst>
          </p:cNvPr>
          <p:cNvSpPr/>
          <p:nvPr/>
        </p:nvSpPr>
        <p:spPr>
          <a:xfrm>
            <a:off x="280159" y="150248"/>
            <a:ext cx="506920" cy="160331"/>
          </a:xfrm>
          <a:prstGeom prst="roundRect">
            <a:avLst>
              <a:gd name="adj" fmla="val 13693"/>
            </a:avLst>
          </a:prstGeom>
          <a:solidFill>
            <a:srgbClr val="7B2135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 fontScale="97500" lnSpcReduction="10000"/>
          </a:bodyPr>
          <a:lstStyle/>
          <a:p>
            <a:pPr algn="ctr"/>
            <a:r>
              <a:rPr lang="en-US" altLang="zh-CN" sz="102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D6824E-B60F-A26E-D65C-9AA4A97ABEA9}"/>
              </a:ext>
            </a:extLst>
          </p:cNvPr>
          <p:cNvSpPr txBox="1"/>
          <p:nvPr/>
        </p:nvSpPr>
        <p:spPr>
          <a:xfrm>
            <a:off x="870205" y="113586"/>
            <a:ext cx="694852" cy="2452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95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EDEEF0-378F-7033-96FB-57F875097534}"/>
              </a:ext>
            </a:extLst>
          </p:cNvPr>
          <p:cNvSpPr/>
          <p:nvPr/>
        </p:nvSpPr>
        <p:spPr>
          <a:xfrm>
            <a:off x="1457886" y="113586"/>
            <a:ext cx="1492716" cy="2454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995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Architectural Analysis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3AC2BD9-A936-870E-F370-34A181803AAC}"/>
              </a:ext>
            </a:extLst>
          </p:cNvPr>
          <p:cNvSpPr txBox="1"/>
          <p:nvPr/>
        </p:nvSpPr>
        <p:spPr>
          <a:xfrm>
            <a:off x="1015507" y="2012987"/>
            <a:ext cx="1963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面向学生，提供报修、缴费等日常功能。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37" name="Rectangle 24">
            <a:extLst>
              <a:ext uri="{FF2B5EF4-FFF2-40B4-BE49-F238E27FC236}">
                <a16:creationId xmlns:a16="http://schemas.microsoft.com/office/drawing/2014/main" id="{00628EB3-9C9B-C27D-B2D7-0C4955386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0301" y="1806648"/>
            <a:ext cx="125425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Web </a:t>
            </a:r>
            <a:r>
              <a:rPr lang="zh-CN" altLang="en-US" sz="1200" b="1" dirty="0">
                <a:solidFill>
                  <a:schemeClr val="bg1"/>
                </a:solidFill>
              </a:rPr>
              <a:t>门户 </a:t>
            </a:r>
            <a:r>
              <a:rPr lang="en-US" altLang="zh-CN" sz="1200" b="1" dirty="0">
                <a:solidFill>
                  <a:schemeClr val="bg1"/>
                </a:solidFill>
              </a:rPr>
              <a:t>(SPA)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7765E96-4912-9255-1DF7-A18CEFE13DB3}"/>
              </a:ext>
            </a:extLst>
          </p:cNvPr>
          <p:cNvSpPr txBox="1"/>
          <p:nvPr/>
        </p:nvSpPr>
        <p:spPr>
          <a:xfrm>
            <a:off x="5941797" y="1991663"/>
            <a:ext cx="19638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专用于系统管理人员（宿管、安保、维修），进行后台操作，如分配管理、工单审批等。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41" name="Rectangle 24">
            <a:extLst>
              <a:ext uri="{FF2B5EF4-FFF2-40B4-BE49-F238E27FC236}">
                <a16:creationId xmlns:a16="http://schemas.microsoft.com/office/drawing/2014/main" id="{A2CEFFCA-C0E7-A332-989D-57129A549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368" y="1806648"/>
            <a:ext cx="125425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</a:rPr>
              <a:t>管理后台 </a:t>
            </a:r>
            <a:r>
              <a:rPr lang="en-US" altLang="zh-CN" sz="1200" b="1" dirty="0">
                <a:solidFill>
                  <a:schemeClr val="bg1"/>
                </a:solidFill>
              </a:rPr>
              <a:t>(SPA)</a:t>
            </a:r>
            <a:r>
              <a:rPr lang="en-US" altLang="zh-CN" sz="1200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DCBA8D5-683F-88D7-C503-6634B7E37000}"/>
              </a:ext>
            </a:extLst>
          </p:cNvPr>
          <p:cNvSpPr txBox="1"/>
          <p:nvPr/>
        </p:nvSpPr>
        <p:spPr>
          <a:xfrm>
            <a:off x="3845575" y="4151814"/>
            <a:ext cx="1963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为访客（如学生亲友）提供的独立入口，用于访客预约登记。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43" name="Rectangle 24">
            <a:extLst>
              <a:ext uri="{FF2B5EF4-FFF2-40B4-BE49-F238E27FC236}">
                <a16:creationId xmlns:a16="http://schemas.microsoft.com/office/drawing/2014/main" id="{5E2BE503-2357-F23F-AE98-7F54764EC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0369" y="3945475"/>
            <a:ext cx="125425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</a:rPr>
              <a:t>访客门户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pic>
        <p:nvPicPr>
          <p:cNvPr id="4" name="图片 3" descr="C:\Users\Administrator\Desktop\同济图片\图片1.png图片1">
            <a:extLst>
              <a:ext uri="{FF2B5EF4-FFF2-40B4-BE49-F238E27FC236}">
                <a16:creationId xmlns:a16="http://schemas.microsoft.com/office/drawing/2014/main" id="{68925510-9FFB-9921-46A2-34F5C354DC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177530" y="953"/>
            <a:ext cx="965200" cy="965835"/>
          </a:xfrm>
          <a:prstGeom prst="rect">
            <a:avLst/>
          </a:prstGeom>
        </p:spPr>
      </p:pic>
      <p:pic>
        <p:nvPicPr>
          <p:cNvPr id="44" name="图片 43" descr="文本&#10;&#10;AI 生成的内容可能不正确。">
            <a:extLst>
              <a:ext uri="{FF2B5EF4-FFF2-40B4-BE49-F238E27FC236}">
                <a16:creationId xmlns:a16="http://schemas.microsoft.com/office/drawing/2014/main" id="{2D10656A-0E32-4C5D-3D04-488C92A18C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301" y="2635189"/>
            <a:ext cx="6193398" cy="110895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726E533F-60B2-F87F-6E8D-07DC074DBC93}"/>
              </a:ext>
            </a:extLst>
          </p:cNvPr>
          <p:cNvSpPr txBox="1"/>
          <p:nvPr/>
        </p:nvSpPr>
        <p:spPr>
          <a:xfrm>
            <a:off x="1015507" y="1213949"/>
            <a:ext cx="6890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展现层是系统的最顶层，负责所有面向用户的交互和界面展示 </a:t>
            </a:r>
            <a:r>
              <a:rPr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(UI)</a:t>
            </a:r>
            <a:r>
              <a:rPr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。</a:t>
            </a:r>
            <a:endParaRPr lang="en-US" altLang="zh-CN" sz="11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46" name="Rectangle 24">
            <a:extLst>
              <a:ext uri="{FF2B5EF4-FFF2-40B4-BE49-F238E27FC236}">
                <a16:creationId xmlns:a16="http://schemas.microsoft.com/office/drawing/2014/main" id="{FC4D2261-7BD2-60AF-5CE9-6F9CAA0C7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159" y="603868"/>
            <a:ext cx="12542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2000" b="1" dirty="0"/>
              <a:t>展现层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81987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40" grpId="0"/>
      <p:bldP spid="41" grpId="0"/>
      <p:bldP spid="42" grpId="0"/>
      <p:bldP spid="43" grpId="0"/>
      <p:bldP spid="45" grpId="0"/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0F979-8210-318B-6BC7-AE77554A1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FF5E6B41-972D-BBAF-221A-D02FA65A353C}"/>
              </a:ext>
            </a:extLst>
          </p:cNvPr>
          <p:cNvSpPr>
            <a:spLocks/>
          </p:cNvSpPr>
          <p:nvPr/>
        </p:nvSpPr>
        <p:spPr>
          <a:xfrm>
            <a:off x="368954" y="3804484"/>
            <a:ext cx="2177864" cy="922968"/>
          </a:xfrm>
          <a:prstGeom prst="roundRect">
            <a:avLst/>
          </a:prstGeom>
          <a:solidFill>
            <a:srgbClr val="7B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80BE3E84-77E3-0F87-EFDD-41A93EAD4093}"/>
              </a:ext>
            </a:extLst>
          </p:cNvPr>
          <p:cNvSpPr/>
          <p:nvPr/>
        </p:nvSpPr>
        <p:spPr>
          <a:xfrm>
            <a:off x="3540009" y="3804484"/>
            <a:ext cx="2177864" cy="922968"/>
          </a:xfrm>
          <a:prstGeom prst="roundRect">
            <a:avLst/>
          </a:prstGeom>
          <a:solidFill>
            <a:srgbClr val="7B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B91D0E12-3586-C4CF-4E3D-4F2231E9DF27}"/>
              </a:ext>
            </a:extLst>
          </p:cNvPr>
          <p:cNvSpPr/>
          <p:nvPr/>
        </p:nvSpPr>
        <p:spPr>
          <a:xfrm>
            <a:off x="5834787" y="1658587"/>
            <a:ext cx="2177864" cy="798334"/>
          </a:xfrm>
          <a:prstGeom prst="roundRect">
            <a:avLst/>
          </a:prstGeom>
          <a:solidFill>
            <a:srgbClr val="7B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674FCFCE-0A47-2F80-B3BE-9BAA4C2F846C}"/>
              </a:ext>
            </a:extLst>
          </p:cNvPr>
          <p:cNvSpPr/>
          <p:nvPr/>
        </p:nvSpPr>
        <p:spPr>
          <a:xfrm>
            <a:off x="870205" y="1658587"/>
            <a:ext cx="2177864" cy="798334"/>
          </a:xfrm>
          <a:prstGeom prst="roundRect">
            <a:avLst/>
          </a:prstGeom>
          <a:solidFill>
            <a:srgbClr val="7B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îŝḷîḓé-矩形: 圆角 70">
            <a:extLst>
              <a:ext uri="{FF2B5EF4-FFF2-40B4-BE49-F238E27FC236}">
                <a16:creationId xmlns:a16="http://schemas.microsoft.com/office/drawing/2014/main" id="{73B4C489-D057-D3DD-DAAD-5B7ABA441129}"/>
              </a:ext>
            </a:extLst>
          </p:cNvPr>
          <p:cNvSpPr/>
          <p:nvPr/>
        </p:nvSpPr>
        <p:spPr>
          <a:xfrm>
            <a:off x="280159" y="150248"/>
            <a:ext cx="506920" cy="160331"/>
          </a:xfrm>
          <a:prstGeom prst="roundRect">
            <a:avLst>
              <a:gd name="adj" fmla="val 13693"/>
            </a:avLst>
          </a:prstGeom>
          <a:solidFill>
            <a:srgbClr val="7B2135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 fontScale="97500" lnSpcReduction="10000"/>
          </a:bodyPr>
          <a:lstStyle/>
          <a:p>
            <a:pPr algn="ctr"/>
            <a:r>
              <a:rPr lang="en-US" altLang="zh-CN" sz="102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52D376-8232-3674-76A5-2E1E61A8CDE3}"/>
              </a:ext>
            </a:extLst>
          </p:cNvPr>
          <p:cNvSpPr txBox="1"/>
          <p:nvPr/>
        </p:nvSpPr>
        <p:spPr>
          <a:xfrm>
            <a:off x="870205" y="113586"/>
            <a:ext cx="694852" cy="2452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95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9229D4-713D-E11E-C6CD-6D3D9D01065C}"/>
              </a:ext>
            </a:extLst>
          </p:cNvPr>
          <p:cNvSpPr/>
          <p:nvPr/>
        </p:nvSpPr>
        <p:spPr>
          <a:xfrm>
            <a:off x="1457886" y="113586"/>
            <a:ext cx="1492716" cy="2454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995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Architectural Analysis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A911C4F-80FC-50BD-C0E4-71EFA9D5AB01}"/>
              </a:ext>
            </a:extLst>
          </p:cNvPr>
          <p:cNvSpPr txBox="1"/>
          <p:nvPr/>
        </p:nvSpPr>
        <p:spPr>
          <a:xfrm>
            <a:off x="1015507" y="2012987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负责登录、注册、权限验证。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37" name="Rectangle 24">
            <a:extLst>
              <a:ext uri="{FF2B5EF4-FFF2-40B4-BE49-F238E27FC236}">
                <a16:creationId xmlns:a16="http://schemas.microsoft.com/office/drawing/2014/main" id="{B2E40C4D-759B-8C68-5DC1-BDD2AA53E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0301" y="1806648"/>
            <a:ext cx="125425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</a:rPr>
              <a:t>用户管理服务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D4D4DCD-C9B1-C1D5-88EE-AD125545D13D}"/>
              </a:ext>
            </a:extLst>
          </p:cNvPr>
          <p:cNvSpPr txBox="1"/>
          <p:nvPr/>
        </p:nvSpPr>
        <p:spPr>
          <a:xfrm>
            <a:off x="5941797" y="1991663"/>
            <a:ext cx="1963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负责协调计费、支付回调、欠费预警等。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41" name="Rectangle 24">
            <a:extLst>
              <a:ext uri="{FF2B5EF4-FFF2-40B4-BE49-F238E27FC236}">
                <a16:creationId xmlns:a16="http://schemas.microsoft.com/office/drawing/2014/main" id="{F6682B52-D2C7-1F0A-8D61-9FA92D7B1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368" y="1806648"/>
            <a:ext cx="125425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</a:rPr>
              <a:t>缴费服务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81C954F-92DD-3FE8-8F2F-B8FB4FF7D869}"/>
              </a:ext>
            </a:extLst>
          </p:cNvPr>
          <p:cNvSpPr txBox="1"/>
          <p:nvPr/>
        </p:nvSpPr>
        <p:spPr>
          <a:xfrm>
            <a:off x="475964" y="4164105"/>
            <a:ext cx="1963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负责协调报修、智能派单和状态更新。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43" name="Rectangle 24">
            <a:extLst>
              <a:ext uri="{FF2B5EF4-FFF2-40B4-BE49-F238E27FC236}">
                <a16:creationId xmlns:a16="http://schemas.microsoft.com/office/drawing/2014/main" id="{682FA65C-04BC-84C8-799A-C3DB4213C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4872" y="3945475"/>
            <a:ext cx="125425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</a:rPr>
              <a:t>智能分配服务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pic>
        <p:nvPicPr>
          <p:cNvPr id="4" name="图片 3" descr="C:\Users\Administrator\Desktop\同济图片\图片1.png图片1">
            <a:extLst>
              <a:ext uri="{FF2B5EF4-FFF2-40B4-BE49-F238E27FC236}">
                <a16:creationId xmlns:a16="http://schemas.microsoft.com/office/drawing/2014/main" id="{747053F3-50AB-B420-5D4F-3A80F5D6EB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177530" y="953"/>
            <a:ext cx="965200" cy="965835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7C5CB54F-E739-B3BC-A3FB-AE74CCF75BC6}"/>
              </a:ext>
            </a:extLst>
          </p:cNvPr>
          <p:cNvSpPr txBox="1"/>
          <p:nvPr/>
        </p:nvSpPr>
        <p:spPr>
          <a:xfrm>
            <a:off x="1015507" y="1213949"/>
            <a:ext cx="6890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应用服务层是展现层与领域核心层之间的协调者，负责编排具体的业务用例（</a:t>
            </a:r>
            <a:r>
              <a:rPr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Use Case</a:t>
            </a:r>
            <a:r>
              <a:rPr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）流程。</a:t>
            </a:r>
            <a:endParaRPr lang="en-US" altLang="zh-CN" sz="11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46" name="Rectangle 24">
            <a:extLst>
              <a:ext uri="{FF2B5EF4-FFF2-40B4-BE49-F238E27FC236}">
                <a16:creationId xmlns:a16="http://schemas.microsoft.com/office/drawing/2014/main" id="{DA100512-CA20-D6EE-A4EB-877B7A181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159" y="603868"/>
            <a:ext cx="3458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2000" b="1" dirty="0"/>
              <a:t>应用服务层</a:t>
            </a:r>
            <a:endParaRPr lang="en-US" altLang="zh-CN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DD43A47-6314-74BF-D94C-0609190D9505}"/>
              </a:ext>
            </a:extLst>
          </p:cNvPr>
          <p:cNvSpPr txBox="1"/>
          <p:nvPr/>
        </p:nvSpPr>
        <p:spPr>
          <a:xfrm>
            <a:off x="3647019" y="4164105"/>
            <a:ext cx="1963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负责协调宿舍自动分配和调宿申请。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8" name="Rectangle 24">
            <a:extLst>
              <a:ext uri="{FF2B5EF4-FFF2-40B4-BE49-F238E27FC236}">
                <a16:creationId xmlns:a16="http://schemas.microsoft.com/office/drawing/2014/main" id="{B01460D7-D81E-10A7-BE6A-229071C78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595" y="3945475"/>
            <a:ext cx="125425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</a:rPr>
              <a:t>维修服务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F55CDCF-1B63-CBE2-04B3-04BE201FDFBB}"/>
              </a:ext>
            </a:extLst>
          </p:cNvPr>
          <p:cNvSpPr/>
          <p:nvPr/>
        </p:nvSpPr>
        <p:spPr>
          <a:xfrm>
            <a:off x="6626017" y="3804484"/>
            <a:ext cx="2177864" cy="922968"/>
          </a:xfrm>
          <a:prstGeom prst="roundRect">
            <a:avLst/>
          </a:prstGeom>
          <a:solidFill>
            <a:srgbClr val="7B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24F3271-B900-7E80-2678-EED1E0FC88C6}"/>
              </a:ext>
            </a:extLst>
          </p:cNvPr>
          <p:cNvSpPr txBox="1"/>
          <p:nvPr/>
        </p:nvSpPr>
        <p:spPr>
          <a:xfrm>
            <a:off x="6733027" y="4171582"/>
            <a:ext cx="1963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负责协调访客预约、门禁审批和安全告警。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1" name="Rectangle 24">
            <a:extLst>
              <a:ext uri="{FF2B5EF4-FFF2-40B4-BE49-F238E27FC236}">
                <a16:creationId xmlns:a16="http://schemas.microsoft.com/office/drawing/2014/main" id="{C6686BB6-4A61-395E-C56C-D35798736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7821" y="3945475"/>
            <a:ext cx="125425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</a:rPr>
              <a:t>访客与安防服务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pic>
        <p:nvPicPr>
          <p:cNvPr id="13" name="图片 12" descr="图示&#10;&#10;AI 生成的内容可能不正确。">
            <a:extLst>
              <a:ext uri="{FF2B5EF4-FFF2-40B4-BE49-F238E27FC236}">
                <a16:creationId xmlns:a16="http://schemas.microsoft.com/office/drawing/2014/main" id="{9370E372-979C-A37B-5BE4-CA566F8981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806" y="2532764"/>
            <a:ext cx="5943818" cy="112160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3313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40" grpId="0"/>
      <p:bldP spid="41" grpId="0"/>
      <p:bldP spid="42" grpId="0"/>
      <p:bldP spid="43" grpId="0"/>
      <p:bldP spid="45" grpId="0"/>
      <p:bldP spid="46" grpId="0"/>
      <p:bldP spid="7" grpId="0"/>
      <p:bldP spid="8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16277-204D-3A01-B6C3-38AA4777D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示&#10;&#10;AI 生成的内容可能不正确。">
            <a:extLst>
              <a:ext uri="{FF2B5EF4-FFF2-40B4-BE49-F238E27FC236}">
                <a16:creationId xmlns:a16="http://schemas.microsoft.com/office/drawing/2014/main" id="{06F8C287-6D36-32B7-1A44-719EE4C0D5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62" y="1642256"/>
            <a:ext cx="5057641" cy="327994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7D5CDC95-8C91-5314-A685-98F5D0A2A5CD}"/>
              </a:ext>
            </a:extLst>
          </p:cNvPr>
          <p:cNvSpPr>
            <a:spLocks/>
          </p:cNvSpPr>
          <p:nvPr/>
        </p:nvSpPr>
        <p:spPr>
          <a:xfrm>
            <a:off x="5930171" y="1692244"/>
            <a:ext cx="1871727" cy="747609"/>
          </a:xfrm>
          <a:prstGeom prst="roundRect">
            <a:avLst/>
          </a:prstGeom>
          <a:solidFill>
            <a:srgbClr val="7B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014CD635-4EAE-CBE9-975B-7FC6034F98B0}"/>
              </a:ext>
            </a:extLst>
          </p:cNvPr>
          <p:cNvSpPr/>
          <p:nvPr/>
        </p:nvSpPr>
        <p:spPr>
          <a:xfrm>
            <a:off x="5930171" y="4218266"/>
            <a:ext cx="1871727" cy="803882"/>
          </a:xfrm>
          <a:prstGeom prst="roundRect">
            <a:avLst/>
          </a:prstGeom>
          <a:solidFill>
            <a:srgbClr val="7B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347A88FF-061A-C721-436D-8681DBAFEEA6}"/>
              </a:ext>
            </a:extLst>
          </p:cNvPr>
          <p:cNvSpPr/>
          <p:nvPr/>
        </p:nvSpPr>
        <p:spPr>
          <a:xfrm>
            <a:off x="5930170" y="2532360"/>
            <a:ext cx="1871727" cy="657957"/>
          </a:xfrm>
          <a:prstGeom prst="roundRect">
            <a:avLst/>
          </a:prstGeom>
          <a:solidFill>
            <a:srgbClr val="7B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71373CCE-33A1-55C8-414D-632A15C3CBBA}"/>
              </a:ext>
            </a:extLst>
          </p:cNvPr>
          <p:cNvSpPr/>
          <p:nvPr/>
        </p:nvSpPr>
        <p:spPr>
          <a:xfrm>
            <a:off x="5891880" y="851022"/>
            <a:ext cx="1871727" cy="700885"/>
          </a:xfrm>
          <a:prstGeom prst="roundRect">
            <a:avLst/>
          </a:prstGeom>
          <a:solidFill>
            <a:srgbClr val="7B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îŝḷîḓé-矩形: 圆角 70">
            <a:extLst>
              <a:ext uri="{FF2B5EF4-FFF2-40B4-BE49-F238E27FC236}">
                <a16:creationId xmlns:a16="http://schemas.microsoft.com/office/drawing/2014/main" id="{0D722E75-8B25-BD9D-1B46-19C583EDE045}"/>
              </a:ext>
            </a:extLst>
          </p:cNvPr>
          <p:cNvSpPr/>
          <p:nvPr/>
        </p:nvSpPr>
        <p:spPr>
          <a:xfrm>
            <a:off x="280159" y="150248"/>
            <a:ext cx="506920" cy="160331"/>
          </a:xfrm>
          <a:prstGeom prst="roundRect">
            <a:avLst>
              <a:gd name="adj" fmla="val 13693"/>
            </a:avLst>
          </a:prstGeom>
          <a:solidFill>
            <a:srgbClr val="7B2135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 fontScale="97500" lnSpcReduction="10000"/>
          </a:bodyPr>
          <a:lstStyle/>
          <a:p>
            <a:pPr algn="ctr"/>
            <a:r>
              <a:rPr lang="en-US" altLang="zh-CN" sz="102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FBA495F-C605-88DE-D927-2DF13676F142}"/>
              </a:ext>
            </a:extLst>
          </p:cNvPr>
          <p:cNvSpPr txBox="1"/>
          <p:nvPr/>
        </p:nvSpPr>
        <p:spPr>
          <a:xfrm>
            <a:off x="870205" y="113586"/>
            <a:ext cx="694852" cy="2452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95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91A3E5-F9B1-8315-E38D-9686212B5851}"/>
              </a:ext>
            </a:extLst>
          </p:cNvPr>
          <p:cNvSpPr/>
          <p:nvPr/>
        </p:nvSpPr>
        <p:spPr>
          <a:xfrm>
            <a:off x="1457886" y="113586"/>
            <a:ext cx="1492716" cy="2454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995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Architectural Analysis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E1B9E81-3381-5A87-AC0D-BD557211995B}"/>
              </a:ext>
            </a:extLst>
          </p:cNvPr>
          <p:cNvSpPr txBox="1"/>
          <p:nvPr/>
        </p:nvSpPr>
        <p:spPr>
          <a:xfrm>
            <a:off x="6037181" y="1098778"/>
            <a:ext cx="1687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定义用户、角色、权限规则。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37" name="Rectangle 24">
            <a:extLst>
              <a:ext uri="{FF2B5EF4-FFF2-40B4-BE49-F238E27FC236}">
                <a16:creationId xmlns:a16="http://schemas.microsoft.com/office/drawing/2014/main" id="{AAE86706-0082-58BF-E848-CE59019EB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7770" y="928724"/>
            <a:ext cx="61845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</a:rPr>
              <a:t>用户领域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4046DE5-8B57-02B7-3BD9-15222229C974}"/>
              </a:ext>
            </a:extLst>
          </p:cNvPr>
          <p:cNvSpPr txBox="1"/>
          <p:nvPr/>
        </p:nvSpPr>
        <p:spPr>
          <a:xfrm>
            <a:off x="6037180" y="2752026"/>
            <a:ext cx="1687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包含自动计费规则、支付与预警逻辑。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41" name="Rectangle 24">
            <a:extLst>
              <a:ext uri="{FF2B5EF4-FFF2-40B4-BE49-F238E27FC236}">
                <a16:creationId xmlns:a16="http://schemas.microsoft.com/office/drawing/2014/main" id="{2B3AF341-82F1-23E8-E49C-7C1F8D113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8471" y="2578674"/>
            <a:ext cx="61854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</a:rPr>
              <a:t>缴费领域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529C0F5-BBAF-4D44-510D-8699B20D58F4}"/>
              </a:ext>
            </a:extLst>
          </p:cNvPr>
          <p:cNvSpPr txBox="1"/>
          <p:nvPr/>
        </p:nvSpPr>
        <p:spPr>
          <a:xfrm>
            <a:off x="6022138" y="1942052"/>
            <a:ext cx="1687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包含智能派单服务、工单状态管理。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43" name="Rectangle 24">
            <a:extLst>
              <a:ext uri="{FF2B5EF4-FFF2-40B4-BE49-F238E27FC236}">
                <a16:creationId xmlns:a16="http://schemas.microsoft.com/office/drawing/2014/main" id="{1FB903AB-F77D-104B-69B5-439F8C855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2344" y="4290759"/>
            <a:ext cx="9174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</a:rPr>
              <a:t>智能分配领域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pic>
        <p:nvPicPr>
          <p:cNvPr id="4" name="图片 3" descr="C:\Users\Administrator\Desktop\同济图片\图片1.png图片1">
            <a:extLst>
              <a:ext uri="{FF2B5EF4-FFF2-40B4-BE49-F238E27FC236}">
                <a16:creationId xmlns:a16="http://schemas.microsoft.com/office/drawing/2014/main" id="{6A3D569D-1A1F-A637-6004-18B5FC345E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177530" y="953"/>
            <a:ext cx="965200" cy="965835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C99A55C5-EB39-05AC-31BA-B44F61C3E135}"/>
              </a:ext>
            </a:extLst>
          </p:cNvPr>
          <p:cNvSpPr txBox="1"/>
          <p:nvPr/>
        </p:nvSpPr>
        <p:spPr>
          <a:xfrm>
            <a:off x="280159" y="1179401"/>
            <a:ext cx="6890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领域核心层是系统的“心脏”，封装了所有纯粹的业务规则、实体、状态和算法。</a:t>
            </a:r>
            <a:endParaRPr lang="en-US" altLang="zh-CN" sz="11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46" name="Rectangle 24">
            <a:extLst>
              <a:ext uri="{FF2B5EF4-FFF2-40B4-BE49-F238E27FC236}">
                <a16:creationId xmlns:a16="http://schemas.microsoft.com/office/drawing/2014/main" id="{28AC52D8-86A1-3B9F-976E-534A61AF4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159" y="603868"/>
            <a:ext cx="3458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2000" b="1" dirty="0"/>
              <a:t>领域核心层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70615B-5714-1D82-2DD5-293EE775AE4D}"/>
              </a:ext>
            </a:extLst>
          </p:cNvPr>
          <p:cNvSpPr txBox="1"/>
          <p:nvPr/>
        </p:nvSpPr>
        <p:spPr>
          <a:xfrm>
            <a:off x="6037181" y="4510425"/>
            <a:ext cx="1687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核心是智能匹配算法、调宿请求处理。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8" name="Rectangle 24">
            <a:extLst>
              <a:ext uri="{FF2B5EF4-FFF2-40B4-BE49-F238E27FC236}">
                <a16:creationId xmlns:a16="http://schemas.microsoft.com/office/drawing/2014/main" id="{049E1ABC-C162-FFD8-7C1C-23486E7EC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6176" y="1748409"/>
            <a:ext cx="60980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</a:rPr>
              <a:t>维修领域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98BE7FA-254A-B78B-1899-DFFCFA204FD7}"/>
              </a:ext>
            </a:extLst>
          </p:cNvPr>
          <p:cNvSpPr/>
          <p:nvPr/>
        </p:nvSpPr>
        <p:spPr>
          <a:xfrm>
            <a:off x="5930171" y="3324579"/>
            <a:ext cx="1871727" cy="747608"/>
          </a:xfrm>
          <a:prstGeom prst="roundRect">
            <a:avLst/>
          </a:prstGeom>
          <a:solidFill>
            <a:srgbClr val="7B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AAED63-37F0-4987-3C93-EF076512BF1F}"/>
              </a:ext>
            </a:extLst>
          </p:cNvPr>
          <p:cNvSpPr txBox="1"/>
          <p:nvPr/>
        </p:nvSpPr>
        <p:spPr>
          <a:xfrm>
            <a:off x="6037181" y="3592335"/>
            <a:ext cx="1687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包含门禁认证与告警、访客授权逻辑。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1" name="Rectangle 24">
            <a:extLst>
              <a:ext uri="{FF2B5EF4-FFF2-40B4-BE49-F238E27FC236}">
                <a16:creationId xmlns:a16="http://schemas.microsoft.com/office/drawing/2014/main" id="{A41B4C20-C604-9FA9-5E22-9BD11FB5F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4153" y="3370987"/>
            <a:ext cx="109043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</a:rPr>
              <a:t>访客与安防领域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784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40" grpId="0"/>
      <p:bldP spid="41" grpId="0"/>
      <p:bldP spid="42" grpId="0"/>
      <p:bldP spid="43" grpId="0"/>
      <p:bldP spid="45" grpId="0"/>
      <p:bldP spid="46" grpId="0"/>
      <p:bldP spid="7" grpId="0"/>
      <p:bldP spid="8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AEE59-7A4E-AD49-D870-D95D85224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95C3722A-AC3C-3E14-9C97-8773F0036D2E}"/>
              </a:ext>
            </a:extLst>
          </p:cNvPr>
          <p:cNvSpPr>
            <a:spLocks/>
          </p:cNvSpPr>
          <p:nvPr/>
        </p:nvSpPr>
        <p:spPr>
          <a:xfrm>
            <a:off x="870205" y="3859627"/>
            <a:ext cx="2177864" cy="922968"/>
          </a:xfrm>
          <a:prstGeom prst="roundRect">
            <a:avLst/>
          </a:prstGeom>
          <a:solidFill>
            <a:srgbClr val="7B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9FAEF971-65FA-E45A-27AD-BAA1AFC72043}"/>
              </a:ext>
            </a:extLst>
          </p:cNvPr>
          <p:cNvSpPr/>
          <p:nvPr/>
        </p:nvSpPr>
        <p:spPr>
          <a:xfrm>
            <a:off x="5892264" y="1517023"/>
            <a:ext cx="2177864" cy="798334"/>
          </a:xfrm>
          <a:prstGeom prst="roundRect">
            <a:avLst/>
          </a:prstGeom>
          <a:solidFill>
            <a:srgbClr val="7B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8B287333-492A-296A-BE1D-009C1071FC6C}"/>
              </a:ext>
            </a:extLst>
          </p:cNvPr>
          <p:cNvSpPr/>
          <p:nvPr/>
        </p:nvSpPr>
        <p:spPr>
          <a:xfrm>
            <a:off x="870205" y="1517023"/>
            <a:ext cx="2177864" cy="798334"/>
          </a:xfrm>
          <a:prstGeom prst="roundRect">
            <a:avLst/>
          </a:prstGeom>
          <a:solidFill>
            <a:srgbClr val="7B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îŝḷîḓé-矩形: 圆角 70">
            <a:extLst>
              <a:ext uri="{FF2B5EF4-FFF2-40B4-BE49-F238E27FC236}">
                <a16:creationId xmlns:a16="http://schemas.microsoft.com/office/drawing/2014/main" id="{09E21B5B-CBEF-5C20-EBC9-D695C0B34DB9}"/>
              </a:ext>
            </a:extLst>
          </p:cNvPr>
          <p:cNvSpPr/>
          <p:nvPr/>
        </p:nvSpPr>
        <p:spPr>
          <a:xfrm>
            <a:off x="280159" y="150248"/>
            <a:ext cx="506920" cy="160331"/>
          </a:xfrm>
          <a:prstGeom prst="roundRect">
            <a:avLst>
              <a:gd name="adj" fmla="val 13693"/>
            </a:avLst>
          </a:prstGeom>
          <a:solidFill>
            <a:srgbClr val="7B2135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 fontScale="97500" lnSpcReduction="10000"/>
          </a:bodyPr>
          <a:lstStyle/>
          <a:p>
            <a:pPr algn="ctr"/>
            <a:r>
              <a:rPr lang="en-US" altLang="zh-CN" sz="102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C0A2C1-047E-0D4E-7E5B-7D5F368AB218}"/>
              </a:ext>
            </a:extLst>
          </p:cNvPr>
          <p:cNvSpPr txBox="1"/>
          <p:nvPr/>
        </p:nvSpPr>
        <p:spPr>
          <a:xfrm>
            <a:off x="870205" y="113586"/>
            <a:ext cx="694852" cy="2452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95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098BDA8-9E87-7187-6559-38CFDDB28088}"/>
              </a:ext>
            </a:extLst>
          </p:cNvPr>
          <p:cNvSpPr/>
          <p:nvPr/>
        </p:nvSpPr>
        <p:spPr>
          <a:xfrm>
            <a:off x="1457886" y="113586"/>
            <a:ext cx="1492716" cy="2454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995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Architectural Analysis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40C4C73-2609-F9FF-7973-C1A55892F04C}"/>
              </a:ext>
            </a:extLst>
          </p:cNvPr>
          <p:cNvSpPr txBox="1"/>
          <p:nvPr/>
        </p:nvSpPr>
        <p:spPr>
          <a:xfrm>
            <a:off x="920430" y="1738680"/>
            <a:ext cx="21778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负责执行 </a:t>
            </a: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SQL 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和 </a:t>
            </a: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ORM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，是仓储模式 </a:t>
            </a: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(Repository Pattern) 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的具体实现。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37" name="Rectangle 24">
            <a:extLst>
              <a:ext uri="{FF2B5EF4-FFF2-40B4-BE49-F238E27FC236}">
                <a16:creationId xmlns:a16="http://schemas.microsoft.com/office/drawing/2014/main" id="{7552DD89-97EA-F007-F123-1C3638D67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199" y="1598520"/>
            <a:ext cx="125425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</a:rPr>
              <a:t>数据访问与映射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8B10A07-B206-985C-4138-D56BADC7EE1F}"/>
              </a:ext>
            </a:extLst>
          </p:cNvPr>
          <p:cNvSpPr txBox="1"/>
          <p:nvPr/>
        </p:nvSpPr>
        <p:spPr>
          <a:xfrm>
            <a:off x="5999274" y="1785471"/>
            <a:ext cx="1963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提供高性能缓存服务（如 </a:t>
            </a: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Redis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），减少数据库压力。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41" name="Rectangle 24">
            <a:extLst>
              <a:ext uri="{FF2B5EF4-FFF2-40B4-BE49-F238E27FC236}">
                <a16:creationId xmlns:a16="http://schemas.microsoft.com/office/drawing/2014/main" id="{4F5E6E15-1958-3FD3-7D1E-922B640E8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9545" y="1598520"/>
            <a:ext cx="125425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</a:rPr>
              <a:t>数据缓存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B9F527F-FFEB-C0B6-3C15-2490876242F8}"/>
              </a:ext>
            </a:extLst>
          </p:cNvPr>
          <p:cNvSpPr txBox="1"/>
          <p:nvPr/>
        </p:nvSpPr>
        <p:spPr>
          <a:xfrm>
            <a:off x="977215" y="4219248"/>
            <a:ext cx="1963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负责管理数据库物理连接，确保访问高效稳定。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pic>
        <p:nvPicPr>
          <p:cNvPr id="4" name="图片 3" descr="C:\Users\Administrator\Desktop\同济图片\图片1.png图片1">
            <a:extLst>
              <a:ext uri="{FF2B5EF4-FFF2-40B4-BE49-F238E27FC236}">
                <a16:creationId xmlns:a16="http://schemas.microsoft.com/office/drawing/2014/main" id="{5DA114AC-7646-F24B-68DF-8FC7CA9C3B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177530" y="953"/>
            <a:ext cx="965200" cy="965835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DCC01A39-6583-D94B-C376-6C07D3D50B06}"/>
              </a:ext>
            </a:extLst>
          </p:cNvPr>
          <p:cNvSpPr txBox="1"/>
          <p:nvPr/>
        </p:nvSpPr>
        <p:spPr>
          <a:xfrm>
            <a:off x="870205" y="1089559"/>
            <a:ext cx="6890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数据持久化层提供了将领域对象映射到内部数据存储的具体实现。</a:t>
            </a:r>
            <a:endParaRPr lang="en-US" altLang="zh-CN" sz="11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46" name="Rectangle 24">
            <a:extLst>
              <a:ext uri="{FF2B5EF4-FFF2-40B4-BE49-F238E27FC236}">
                <a16:creationId xmlns:a16="http://schemas.microsoft.com/office/drawing/2014/main" id="{6BA8C202-5AD0-992A-3280-80BD86B24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159" y="603868"/>
            <a:ext cx="3458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2000" b="1" dirty="0"/>
              <a:t>数据持久化层</a:t>
            </a:r>
            <a:endParaRPr lang="en-US" altLang="zh-CN" sz="2000" dirty="0"/>
          </a:p>
        </p:txBody>
      </p:sp>
      <p:sp>
        <p:nvSpPr>
          <p:cNvPr id="8" name="Rectangle 24">
            <a:extLst>
              <a:ext uri="{FF2B5EF4-FFF2-40B4-BE49-F238E27FC236}">
                <a16:creationId xmlns:a16="http://schemas.microsoft.com/office/drawing/2014/main" id="{5D0C24FF-1DD1-2FDD-6406-13F2E6CF3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5846" y="4000618"/>
            <a:ext cx="125425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</a:rPr>
              <a:t>数据库连接池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6B6FA25-37EA-7E0E-464C-96679022F65C}"/>
              </a:ext>
            </a:extLst>
          </p:cNvPr>
          <p:cNvSpPr/>
          <p:nvPr/>
        </p:nvSpPr>
        <p:spPr>
          <a:xfrm>
            <a:off x="5892264" y="3859627"/>
            <a:ext cx="2177864" cy="922968"/>
          </a:xfrm>
          <a:prstGeom prst="roundRect">
            <a:avLst/>
          </a:prstGeom>
          <a:solidFill>
            <a:srgbClr val="7B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F9619A-DF84-9E69-DFDB-E3F9D1147B50}"/>
              </a:ext>
            </a:extLst>
          </p:cNvPr>
          <p:cNvSpPr txBox="1"/>
          <p:nvPr/>
        </p:nvSpPr>
        <p:spPr>
          <a:xfrm>
            <a:off x="5999274" y="4240559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系统的最终物理数据存储后端。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1" name="Rectangle 24">
            <a:extLst>
              <a:ext uri="{FF2B5EF4-FFF2-40B4-BE49-F238E27FC236}">
                <a16:creationId xmlns:a16="http://schemas.microsoft.com/office/drawing/2014/main" id="{BC8A96EC-BAF7-EA99-378B-A6F95145D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4068" y="4014452"/>
            <a:ext cx="125425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PostgreSQL</a:t>
            </a:r>
            <a:r>
              <a:rPr lang="zh-CN" altLang="en-US" sz="1200" b="1" dirty="0">
                <a:solidFill>
                  <a:schemeClr val="bg1"/>
                </a:solidFill>
              </a:rPr>
              <a:t>数据库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pic>
        <p:nvPicPr>
          <p:cNvPr id="14" name="图片 13" descr="图示&#10;&#10;AI 生成的内容可能不正确。">
            <a:extLst>
              <a:ext uri="{FF2B5EF4-FFF2-40B4-BE49-F238E27FC236}">
                <a16:creationId xmlns:a16="http://schemas.microsoft.com/office/drawing/2014/main" id="{7B067AD1-8BE4-3CA8-5EDE-533F9F1EBD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8" y="2455915"/>
            <a:ext cx="7733866" cy="122250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5506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40" grpId="0"/>
      <p:bldP spid="41" grpId="0"/>
      <p:bldP spid="42" grpId="0"/>
      <p:bldP spid="45" grpId="0"/>
      <p:bldP spid="46" grpId="0"/>
      <p:bldP spid="8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862A2-D380-B63E-7AA7-7FFDAFF06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5A95D343-2654-82EE-91B1-13C419B4683F}"/>
              </a:ext>
            </a:extLst>
          </p:cNvPr>
          <p:cNvSpPr>
            <a:spLocks/>
          </p:cNvSpPr>
          <p:nvPr/>
        </p:nvSpPr>
        <p:spPr>
          <a:xfrm>
            <a:off x="870205" y="3859627"/>
            <a:ext cx="2177864" cy="922968"/>
          </a:xfrm>
          <a:prstGeom prst="roundRect">
            <a:avLst/>
          </a:prstGeom>
          <a:solidFill>
            <a:srgbClr val="7B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A2F3BDBC-C47B-E2A4-DB62-EB628A944F25}"/>
              </a:ext>
            </a:extLst>
          </p:cNvPr>
          <p:cNvSpPr/>
          <p:nvPr/>
        </p:nvSpPr>
        <p:spPr>
          <a:xfrm>
            <a:off x="5892264" y="1517023"/>
            <a:ext cx="2177864" cy="798334"/>
          </a:xfrm>
          <a:prstGeom prst="roundRect">
            <a:avLst/>
          </a:prstGeom>
          <a:solidFill>
            <a:srgbClr val="7B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1B180FE6-69C4-E3FB-2C7A-635FF323FC29}"/>
              </a:ext>
            </a:extLst>
          </p:cNvPr>
          <p:cNvSpPr/>
          <p:nvPr/>
        </p:nvSpPr>
        <p:spPr>
          <a:xfrm>
            <a:off x="870205" y="1517023"/>
            <a:ext cx="2177864" cy="798334"/>
          </a:xfrm>
          <a:prstGeom prst="roundRect">
            <a:avLst/>
          </a:prstGeom>
          <a:solidFill>
            <a:srgbClr val="7B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îŝḷîḓé-矩形: 圆角 70">
            <a:extLst>
              <a:ext uri="{FF2B5EF4-FFF2-40B4-BE49-F238E27FC236}">
                <a16:creationId xmlns:a16="http://schemas.microsoft.com/office/drawing/2014/main" id="{7781C958-C876-6AA9-2989-51757AC05F5B}"/>
              </a:ext>
            </a:extLst>
          </p:cNvPr>
          <p:cNvSpPr/>
          <p:nvPr/>
        </p:nvSpPr>
        <p:spPr>
          <a:xfrm>
            <a:off x="280159" y="150248"/>
            <a:ext cx="506920" cy="160331"/>
          </a:xfrm>
          <a:prstGeom prst="roundRect">
            <a:avLst>
              <a:gd name="adj" fmla="val 13693"/>
            </a:avLst>
          </a:prstGeom>
          <a:solidFill>
            <a:srgbClr val="7B2135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 fontScale="97500" lnSpcReduction="10000"/>
          </a:bodyPr>
          <a:lstStyle/>
          <a:p>
            <a:pPr algn="ctr"/>
            <a:r>
              <a:rPr lang="en-US" altLang="zh-CN" sz="102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210FDE0-FB73-5831-7ED6-B5160D992518}"/>
              </a:ext>
            </a:extLst>
          </p:cNvPr>
          <p:cNvSpPr txBox="1"/>
          <p:nvPr/>
        </p:nvSpPr>
        <p:spPr>
          <a:xfrm>
            <a:off x="870205" y="113586"/>
            <a:ext cx="694852" cy="2452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95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3F30BF3-4C78-A317-B30F-1459F1EC8C06}"/>
              </a:ext>
            </a:extLst>
          </p:cNvPr>
          <p:cNvSpPr/>
          <p:nvPr/>
        </p:nvSpPr>
        <p:spPr>
          <a:xfrm>
            <a:off x="1457886" y="113586"/>
            <a:ext cx="1492716" cy="2454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995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Architectural Analysis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2403B15-80D6-8EE6-D162-0A24E16D5C75}"/>
              </a:ext>
            </a:extLst>
          </p:cNvPr>
          <p:cNvSpPr txBox="1"/>
          <p:nvPr/>
        </p:nvSpPr>
        <p:spPr>
          <a:xfrm>
            <a:off x="920430" y="1738680"/>
            <a:ext cx="2177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获取学生画像、专业等数据。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37" name="Rectangle 24">
            <a:extLst>
              <a:ext uri="{FF2B5EF4-FFF2-40B4-BE49-F238E27FC236}">
                <a16:creationId xmlns:a16="http://schemas.microsoft.com/office/drawing/2014/main" id="{455763F2-2743-5540-60CF-4C7E570DD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199" y="1598520"/>
            <a:ext cx="125425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</a:rPr>
              <a:t>学籍系统接口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F283016-3AE1-BB1D-BEB4-150095719978}"/>
              </a:ext>
            </a:extLst>
          </p:cNvPr>
          <p:cNvSpPr txBox="1"/>
          <p:nvPr/>
        </p:nvSpPr>
        <p:spPr>
          <a:xfrm>
            <a:off x="5999274" y="1785471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读取宿舍的实时用量数据。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41" name="Rectangle 24">
            <a:extLst>
              <a:ext uri="{FF2B5EF4-FFF2-40B4-BE49-F238E27FC236}">
                <a16:creationId xmlns:a16="http://schemas.microsoft.com/office/drawing/2014/main" id="{3FDAE0C0-1FB9-C874-D7D2-FFBFE01A2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9545" y="1598520"/>
            <a:ext cx="125425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</a:rPr>
              <a:t>水电表系统接口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22D04CD-326B-4769-F3AE-C4628BF95206}"/>
              </a:ext>
            </a:extLst>
          </p:cNvPr>
          <p:cNvSpPr txBox="1"/>
          <p:nvPr/>
        </p:nvSpPr>
        <p:spPr>
          <a:xfrm>
            <a:off x="977215" y="4219248"/>
            <a:ext cx="1963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对接微信、支付宝等，处理在线缴费。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pic>
        <p:nvPicPr>
          <p:cNvPr id="4" name="图片 3" descr="C:\Users\Administrator\Desktop\同济图片\图片1.png图片1">
            <a:extLst>
              <a:ext uri="{FF2B5EF4-FFF2-40B4-BE49-F238E27FC236}">
                <a16:creationId xmlns:a16="http://schemas.microsoft.com/office/drawing/2014/main" id="{6F73F4C6-D0C2-F9FC-5456-F1AA1937A3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177530" y="953"/>
            <a:ext cx="965200" cy="965835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E2C59BA8-8CFB-F327-FAFF-51637F80FE76}"/>
              </a:ext>
            </a:extLst>
          </p:cNvPr>
          <p:cNvSpPr txBox="1"/>
          <p:nvPr/>
        </p:nvSpPr>
        <p:spPr>
          <a:xfrm>
            <a:off x="870205" y="1089559"/>
            <a:ext cx="6890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外部集成层是系统与所有第三方外部系统通信的统一出口，通过“适配器”模式封装 </a:t>
            </a:r>
            <a:r>
              <a:rPr lang="en-US" altLang="zh-C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API </a:t>
            </a:r>
            <a:r>
              <a:rPr lang="zh-CN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交互细节。</a:t>
            </a:r>
            <a:endParaRPr lang="en-US" altLang="zh-CN" sz="11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46" name="Rectangle 24">
            <a:extLst>
              <a:ext uri="{FF2B5EF4-FFF2-40B4-BE49-F238E27FC236}">
                <a16:creationId xmlns:a16="http://schemas.microsoft.com/office/drawing/2014/main" id="{1AF7A716-0DDF-FDF5-1F42-9E12EF51D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159" y="603868"/>
            <a:ext cx="3458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2000" b="1" dirty="0"/>
              <a:t>外部集成层</a:t>
            </a:r>
            <a:endParaRPr lang="en-US" altLang="zh-CN" sz="2000" dirty="0"/>
          </a:p>
        </p:txBody>
      </p:sp>
      <p:sp>
        <p:nvSpPr>
          <p:cNvPr id="8" name="Rectangle 24">
            <a:extLst>
              <a:ext uri="{FF2B5EF4-FFF2-40B4-BE49-F238E27FC236}">
                <a16:creationId xmlns:a16="http://schemas.microsoft.com/office/drawing/2014/main" id="{049DD048-F3B4-095E-CD27-FD67D4730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5846" y="4000618"/>
            <a:ext cx="125425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</a:rPr>
              <a:t>支付系统接口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41248C2-66C8-21A6-D00A-D0AC9754C103}"/>
              </a:ext>
            </a:extLst>
          </p:cNvPr>
          <p:cNvSpPr/>
          <p:nvPr/>
        </p:nvSpPr>
        <p:spPr>
          <a:xfrm>
            <a:off x="5892264" y="3859627"/>
            <a:ext cx="2177864" cy="922968"/>
          </a:xfrm>
          <a:prstGeom prst="roundRect">
            <a:avLst/>
          </a:prstGeom>
          <a:solidFill>
            <a:srgbClr val="7B29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2947591-BB71-D263-F249-4C4AA7310929}"/>
              </a:ext>
            </a:extLst>
          </p:cNvPr>
          <p:cNvSpPr txBox="1"/>
          <p:nvPr/>
        </p:nvSpPr>
        <p:spPr>
          <a:xfrm>
            <a:off x="5999274" y="4240559"/>
            <a:ext cx="1963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与智能门禁硬件通信，执行开门或告警指令。</a:t>
            </a:r>
            <a:endParaRPr lang="en-US" altLang="zh-CN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1" name="Rectangle 24">
            <a:extLst>
              <a:ext uri="{FF2B5EF4-FFF2-40B4-BE49-F238E27FC236}">
                <a16:creationId xmlns:a16="http://schemas.microsoft.com/office/drawing/2014/main" id="{EB88910D-991C-1490-39A2-0A934EAB7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4068" y="4014452"/>
            <a:ext cx="125425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</a:rPr>
              <a:t>门禁系统接口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pic>
        <p:nvPicPr>
          <p:cNvPr id="12" name="图片 11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2E377A52-1F0A-8762-9923-28F9EAEDA3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438206"/>
            <a:ext cx="8229600" cy="134238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7963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40" grpId="0"/>
      <p:bldP spid="41" grpId="0"/>
      <p:bldP spid="42" grpId="0"/>
      <p:bldP spid="45" grpId="0"/>
      <p:bldP spid="46" grpId="0"/>
      <p:bldP spid="8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63274" y="115524"/>
            <a:ext cx="694852" cy="2452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95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3" name="矩形 2"/>
          <p:cNvSpPr/>
          <p:nvPr/>
        </p:nvSpPr>
        <p:spPr>
          <a:xfrm>
            <a:off x="1472276" y="113587"/>
            <a:ext cx="1492716" cy="2454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995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Architectural Analysis</a:t>
            </a:r>
          </a:p>
        </p:txBody>
      </p:sp>
      <p:sp>
        <p:nvSpPr>
          <p:cNvPr id="4" name="îŝḷîḓé-矩形: 圆角 70"/>
          <p:cNvSpPr/>
          <p:nvPr/>
        </p:nvSpPr>
        <p:spPr>
          <a:xfrm>
            <a:off x="280159" y="150248"/>
            <a:ext cx="506920" cy="160331"/>
          </a:xfrm>
          <a:prstGeom prst="roundRect">
            <a:avLst>
              <a:gd name="adj" fmla="val 13693"/>
            </a:avLst>
          </a:prstGeom>
          <a:solidFill>
            <a:srgbClr val="7B2135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 fontScale="97500" lnSpcReduction="10000"/>
          </a:bodyPr>
          <a:lstStyle/>
          <a:p>
            <a:pPr algn="ctr"/>
            <a:r>
              <a:rPr lang="en-US" altLang="zh-CN" sz="102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zh-CN" altLang="en-US" sz="102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7" name="Group 37"/>
          <p:cNvGrpSpPr/>
          <p:nvPr/>
        </p:nvGrpSpPr>
        <p:grpSpPr>
          <a:xfrm>
            <a:off x="4529294" y="1192671"/>
            <a:ext cx="56482" cy="3227114"/>
            <a:chOff x="10861177" y="1061858"/>
            <a:chExt cx="91440" cy="5224435"/>
          </a:xfrm>
        </p:grpSpPr>
        <p:cxnSp>
          <p:nvCxnSpPr>
            <p:cNvPr id="28" name="Straight Connector 38"/>
            <p:cNvCxnSpPr/>
            <p:nvPr/>
          </p:nvCxnSpPr>
          <p:spPr>
            <a:xfrm>
              <a:off x="10906897" y="1153297"/>
              <a:ext cx="0" cy="5041557"/>
            </a:xfrm>
            <a:prstGeom prst="line">
              <a:avLst/>
            </a:prstGeom>
            <a:ln w="3175">
              <a:solidFill>
                <a:schemeClr val="tx1">
                  <a:alpha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39"/>
            <p:cNvSpPr/>
            <p:nvPr/>
          </p:nvSpPr>
          <p:spPr>
            <a:xfrm>
              <a:off x="10861177" y="1061858"/>
              <a:ext cx="91440" cy="914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>
                <a:cs typeface="+mn-ea"/>
              </a:endParaRPr>
            </a:p>
          </p:txBody>
        </p:sp>
        <p:sp>
          <p:nvSpPr>
            <p:cNvPr id="30" name="Oval 40"/>
            <p:cNvSpPr/>
            <p:nvPr/>
          </p:nvSpPr>
          <p:spPr>
            <a:xfrm>
              <a:off x="10861177" y="6194853"/>
              <a:ext cx="91440" cy="914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>
                <a:cs typeface="+mn-ea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262950" y="1278643"/>
            <a:ext cx="745971" cy="541893"/>
            <a:chOff x="966213" y="2286000"/>
            <a:chExt cx="1158719" cy="841725"/>
          </a:xfrm>
        </p:grpSpPr>
        <p:sp>
          <p:nvSpPr>
            <p:cNvPr id="32" name="等腰三角形 31"/>
            <p:cNvSpPr/>
            <p:nvPr/>
          </p:nvSpPr>
          <p:spPr>
            <a:xfrm flipV="1">
              <a:off x="1658740" y="2286000"/>
              <a:ext cx="466192" cy="323396"/>
            </a:xfrm>
            <a:prstGeom prst="triangle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966213" y="2758393"/>
              <a:ext cx="184731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297274" y="2627420"/>
            <a:ext cx="745971" cy="541893"/>
            <a:chOff x="966213" y="2286000"/>
            <a:chExt cx="1158719" cy="841725"/>
          </a:xfrm>
        </p:grpSpPr>
        <p:sp>
          <p:nvSpPr>
            <p:cNvPr id="35" name="等腰三角形 34"/>
            <p:cNvSpPr/>
            <p:nvPr/>
          </p:nvSpPr>
          <p:spPr>
            <a:xfrm flipV="1">
              <a:off x="1658740" y="2286000"/>
              <a:ext cx="466192" cy="323396"/>
            </a:xfrm>
            <a:prstGeom prst="triangle">
              <a:avLst/>
            </a:prstGeom>
            <a:solidFill>
              <a:srgbClr val="7B29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966213" y="2758393"/>
              <a:ext cx="184731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MH_Title_1"/>
          <p:cNvSpPr/>
          <p:nvPr/>
        </p:nvSpPr>
        <p:spPr>
          <a:xfrm>
            <a:off x="707218" y="1165334"/>
            <a:ext cx="1929289" cy="434816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关键决策</a:t>
            </a:r>
            <a:endParaRPr lang="zh-CN" altLang="en-US" sz="1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17193" y="1514257"/>
            <a:ext cx="3664903" cy="988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前后端分离：采用单页应用（</a:t>
            </a:r>
            <a:r>
              <a:rPr lang="en-US" altLang="zh-CN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SPA</a:t>
            </a:r>
            <a:r>
              <a:rPr lang="zh-CN" altLang="en-US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）展现层与后端应用服务层彻底分离的模式。</a:t>
            </a:r>
            <a:endParaRPr lang="en-US" altLang="zh-CN" sz="1000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微服务架构：后端按业务边界划分为多个独立服务（用户、缴费、维修、分配、安防）。</a:t>
            </a:r>
            <a:endParaRPr lang="en-US" altLang="zh-CN" sz="1000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42" name="MH_Title_1"/>
          <p:cNvSpPr/>
          <p:nvPr/>
        </p:nvSpPr>
        <p:spPr>
          <a:xfrm>
            <a:off x="669529" y="2514111"/>
            <a:ext cx="1929289" cy="434816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权衡与取舍</a:t>
            </a:r>
            <a:endParaRPr lang="zh-CN" altLang="en-US" sz="1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59553" y="2948927"/>
            <a:ext cx="3722544" cy="1680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可靠性与容错性</a:t>
            </a:r>
            <a:r>
              <a:rPr lang="zh-CN" altLang="en-US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：满足 </a:t>
            </a:r>
            <a:r>
              <a:rPr lang="en-US" altLang="zh-CN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SRS “</a:t>
            </a:r>
            <a:r>
              <a:rPr lang="zh-CN" altLang="en-US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单个非核心微服务故障不影响核心业务的正常运行” 的要求。避免了单体架构“一处失败，全局崩溃”的风险。</a:t>
            </a:r>
            <a:endParaRPr lang="en-US" altLang="zh-CN" sz="1000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可维护性与扩展性 </a:t>
            </a:r>
            <a:r>
              <a:rPr lang="zh-CN" altLang="en-US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：限界上下文清晰，团队可独立开发部署。支持“水平扩展”，满足 </a:t>
            </a:r>
            <a:r>
              <a:rPr lang="en-US" altLang="zh-CN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SRS “500</a:t>
            </a:r>
            <a:r>
              <a:rPr lang="zh-CN" altLang="en-US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个并发用户” 的性能指标。</a:t>
            </a:r>
            <a:endParaRPr lang="en-US" altLang="zh-CN" sz="1000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多端支持</a:t>
            </a:r>
            <a:r>
              <a:rPr lang="zh-CN" altLang="en-US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：分离的 </a:t>
            </a:r>
            <a:r>
              <a:rPr lang="en-US" altLang="zh-CN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API </a:t>
            </a:r>
            <a:r>
              <a:rPr lang="zh-CN" altLang="en-US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便于复用，为 </a:t>
            </a:r>
            <a:r>
              <a:rPr lang="en-US" altLang="zh-CN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SRS </a:t>
            </a:r>
            <a:r>
              <a:rPr lang="zh-CN" altLang="en-US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提到的 </a:t>
            </a:r>
            <a:r>
              <a:rPr lang="en-US" altLang="zh-CN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Web </a:t>
            </a:r>
            <a:r>
              <a:rPr lang="zh-CN" altLang="en-US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端和 </a:t>
            </a:r>
            <a:r>
              <a:rPr lang="en-US" altLang="zh-CN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Electron </a:t>
            </a:r>
            <a:r>
              <a:rPr lang="zh-CN" altLang="en-US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桌面端提供统一支持。</a:t>
            </a:r>
            <a:endParaRPr lang="en-US" altLang="zh-CN" sz="1000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pic>
        <p:nvPicPr>
          <p:cNvPr id="50" name="图片 49" descr="C:\Users\Administrator\Desktop\同济图片\图片1.png图片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177530" y="953"/>
            <a:ext cx="965200" cy="965835"/>
          </a:xfrm>
          <a:prstGeom prst="rect">
            <a:avLst/>
          </a:prstGeom>
        </p:spPr>
      </p:pic>
      <p:sp>
        <p:nvSpPr>
          <p:cNvPr id="49" name="MH_Title_1">
            <a:extLst>
              <a:ext uri="{FF2B5EF4-FFF2-40B4-BE49-F238E27FC236}">
                <a16:creationId xmlns:a16="http://schemas.microsoft.com/office/drawing/2014/main" id="{E4C91F70-893A-1838-D73E-0C1953887704}"/>
              </a:ext>
            </a:extLst>
          </p:cNvPr>
          <p:cNvSpPr/>
          <p:nvPr/>
        </p:nvSpPr>
        <p:spPr>
          <a:xfrm>
            <a:off x="423228" y="589800"/>
            <a:ext cx="4148772" cy="434816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6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</a:t>
            </a:r>
            <a:r>
              <a:rPr lang="en-US" altLang="zh-CN" sz="16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：采用前后端分离与微服务后端架构</a:t>
            </a:r>
            <a:endParaRPr lang="zh-CN" altLang="en-US" sz="1600" b="1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86E4CCE4-DD58-A108-5D48-4BD57CECD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333" y="2046540"/>
            <a:ext cx="4451422" cy="168097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  <p:bldP spid="43" grpId="0"/>
      <p:bldP spid="4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5B79D-4999-10E0-E3E6-C56458101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AE4C6F0-8931-A0B7-15AE-76735AA73F85}"/>
              </a:ext>
            </a:extLst>
          </p:cNvPr>
          <p:cNvSpPr txBox="1"/>
          <p:nvPr/>
        </p:nvSpPr>
        <p:spPr>
          <a:xfrm>
            <a:off x="863274" y="115524"/>
            <a:ext cx="694852" cy="2452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95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69FC51-225B-846E-19F6-70BE0A753FC4}"/>
              </a:ext>
            </a:extLst>
          </p:cNvPr>
          <p:cNvSpPr/>
          <p:nvPr/>
        </p:nvSpPr>
        <p:spPr>
          <a:xfrm>
            <a:off x="1472276" y="113587"/>
            <a:ext cx="1492716" cy="2454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995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Architectural Analysis</a:t>
            </a:r>
          </a:p>
        </p:txBody>
      </p:sp>
      <p:sp>
        <p:nvSpPr>
          <p:cNvPr id="4" name="îŝḷîḓé-矩形: 圆角 70">
            <a:extLst>
              <a:ext uri="{FF2B5EF4-FFF2-40B4-BE49-F238E27FC236}">
                <a16:creationId xmlns:a16="http://schemas.microsoft.com/office/drawing/2014/main" id="{0114D514-A70A-4E8D-C3AE-A42D64B8B6B5}"/>
              </a:ext>
            </a:extLst>
          </p:cNvPr>
          <p:cNvSpPr/>
          <p:nvPr/>
        </p:nvSpPr>
        <p:spPr>
          <a:xfrm>
            <a:off x="280159" y="150248"/>
            <a:ext cx="506920" cy="160331"/>
          </a:xfrm>
          <a:prstGeom prst="roundRect">
            <a:avLst>
              <a:gd name="adj" fmla="val 13693"/>
            </a:avLst>
          </a:prstGeom>
          <a:solidFill>
            <a:srgbClr val="7B2135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 fontScale="97500" lnSpcReduction="10000"/>
          </a:bodyPr>
          <a:lstStyle/>
          <a:p>
            <a:pPr algn="ctr"/>
            <a:r>
              <a:rPr lang="en-US" altLang="zh-CN" sz="102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zh-CN" altLang="en-US" sz="102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A9B0904-FF5F-D123-11B4-F2EC8CA120F1}"/>
              </a:ext>
            </a:extLst>
          </p:cNvPr>
          <p:cNvGrpSpPr/>
          <p:nvPr/>
        </p:nvGrpSpPr>
        <p:grpSpPr>
          <a:xfrm>
            <a:off x="233295" y="2911449"/>
            <a:ext cx="745971" cy="541893"/>
            <a:chOff x="966213" y="2286000"/>
            <a:chExt cx="1158719" cy="841725"/>
          </a:xfrm>
        </p:grpSpPr>
        <p:sp>
          <p:nvSpPr>
            <p:cNvPr id="32" name="等腰三角形 31">
              <a:extLst>
                <a:ext uri="{FF2B5EF4-FFF2-40B4-BE49-F238E27FC236}">
                  <a16:creationId xmlns:a16="http://schemas.microsoft.com/office/drawing/2014/main" id="{D1770E08-B05D-44F9-F9DC-A4EBE0A7725E}"/>
                </a:ext>
              </a:extLst>
            </p:cNvPr>
            <p:cNvSpPr/>
            <p:nvPr/>
          </p:nvSpPr>
          <p:spPr>
            <a:xfrm flipV="1">
              <a:off x="1658740" y="2286000"/>
              <a:ext cx="466192" cy="323396"/>
            </a:xfrm>
            <a:prstGeom prst="triangle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14FFF9CE-4203-77DF-214D-D54D0034B541}"/>
                </a:ext>
              </a:extLst>
            </p:cNvPr>
            <p:cNvSpPr/>
            <p:nvPr/>
          </p:nvSpPr>
          <p:spPr>
            <a:xfrm>
              <a:off x="966213" y="2758393"/>
              <a:ext cx="184731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F1B8EA5D-2108-5012-ED56-FC52FA7B78B3}"/>
              </a:ext>
            </a:extLst>
          </p:cNvPr>
          <p:cNvGrpSpPr/>
          <p:nvPr/>
        </p:nvGrpSpPr>
        <p:grpSpPr>
          <a:xfrm>
            <a:off x="4595792" y="2842942"/>
            <a:ext cx="745971" cy="541893"/>
            <a:chOff x="966213" y="2286000"/>
            <a:chExt cx="1158719" cy="841725"/>
          </a:xfrm>
        </p:grpSpPr>
        <p:sp>
          <p:nvSpPr>
            <p:cNvPr id="35" name="等腰三角形 34">
              <a:extLst>
                <a:ext uri="{FF2B5EF4-FFF2-40B4-BE49-F238E27FC236}">
                  <a16:creationId xmlns:a16="http://schemas.microsoft.com/office/drawing/2014/main" id="{863EE4B5-436E-AA32-B17F-CEA616A3A319}"/>
                </a:ext>
              </a:extLst>
            </p:cNvPr>
            <p:cNvSpPr/>
            <p:nvPr/>
          </p:nvSpPr>
          <p:spPr>
            <a:xfrm flipV="1">
              <a:off x="1658740" y="2286000"/>
              <a:ext cx="466192" cy="323396"/>
            </a:xfrm>
            <a:prstGeom prst="triangle">
              <a:avLst/>
            </a:prstGeom>
            <a:solidFill>
              <a:srgbClr val="7B29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0E67FC1F-9FC3-9CA2-74A5-241764C050B9}"/>
                </a:ext>
              </a:extLst>
            </p:cNvPr>
            <p:cNvSpPr/>
            <p:nvPr/>
          </p:nvSpPr>
          <p:spPr>
            <a:xfrm>
              <a:off x="966213" y="2758393"/>
              <a:ext cx="184731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MH_Title_1">
            <a:extLst>
              <a:ext uri="{FF2B5EF4-FFF2-40B4-BE49-F238E27FC236}">
                <a16:creationId xmlns:a16="http://schemas.microsoft.com/office/drawing/2014/main" id="{72029A19-85CF-E814-B9FC-14ACFBDC087F}"/>
              </a:ext>
            </a:extLst>
          </p:cNvPr>
          <p:cNvSpPr/>
          <p:nvPr/>
        </p:nvSpPr>
        <p:spPr>
          <a:xfrm>
            <a:off x="677563" y="2798140"/>
            <a:ext cx="1929289" cy="434816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关键决策</a:t>
            </a:r>
            <a:endParaRPr lang="zh-CN" altLang="en-US" sz="1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74BD150-A5C0-53BA-0F98-B9E25F74FADC}"/>
              </a:ext>
            </a:extLst>
          </p:cNvPr>
          <p:cNvSpPr txBox="1"/>
          <p:nvPr/>
        </p:nvSpPr>
        <p:spPr>
          <a:xfrm>
            <a:off x="687538" y="3147063"/>
            <a:ext cx="3664903" cy="757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数据库选型：使用 </a:t>
            </a:r>
            <a:r>
              <a:rPr lang="en-US" altLang="zh-CN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PostgreSQL </a:t>
            </a:r>
            <a:r>
              <a:rPr lang="zh-CN" altLang="en-US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作为关系型数据库。架构模式：采用“单库”模式。所有微服务通过“数据持久化层”访问同一个 </a:t>
            </a:r>
            <a:r>
              <a:rPr lang="en-US" altLang="zh-CN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PostgreSQL </a:t>
            </a:r>
            <a:r>
              <a:rPr lang="zh-CN" altLang="en-US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实例。</a:t>
            </a:r>
            <a:endParaRPr lang="en-US" altLang="zh-CN" sz="1000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42" name="MH_Title_1">
            <a:extLst>
              <a:ext uri="{FF2B5EF4-FFF2-40B4-BE49-F238E27FC236}">
                <a16:creationId xmlns:a16="http://schemas.microsoft.com/office/drawing/2014/main" id="{58D0268F-E138-5DCD-15CE-33722B3CEF77}"/>
              </a:ext>
            </a:extLst>
          </p:cNvPr>
          <p:cNvSpPr/>
          <p:nvPr/>
        </p:nvSpPr>
        <p:spPr>
          <a:xfrm>
            <a:off x="4968047" y="2729633"/>
            <a:ext cx="1929289" cy="434816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权衡与取舍</a:t>
            </a:r>
            <a:endParaRPr lang="zh-CN" altLang="en-US" sz="1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B6A92F7-602E-75C3-5F41-760324C82D5C}"/>
              </a:ext>
            </a:extLst>
          </p:cNvPr>
          <p:cNvSpPr txBox="1"/>
          <p:nvPr/>
        </p:nvSpPr>
        <p:spPr>
          <a:xfrm>
            <a:off x="4958071" y="3164449"/>
            <a:ext cx="3722544" cy="1680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简化开发复杂度</a:t>
            </a:r>
            <a:r>
              <a:rPr lang="zh-CN" altLang="en-US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：“单库”模式避免了“库分离”带来的分布式事务和数据同步的巨大复杂度，极大简化了开发和数据管理。</a:t>
            </a:r>
            <a:endParaRPr lang="en-US" altLang="zh-CN" sz="1000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保障数据一致性</a:t>
            </a:r>
            <a:r>
              <a:rPr lang="zh-CN" altLang="en-US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：缴费、分配、维修等核心业务对事务一致性要求极高。</a:t>
            </a:r>
            <a:r>
              <a:rPr lang="en-US" altLang="zh-CN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PostgreSQL </a:t>
            </a:r>
            <a:r>
              <a:rPr lang="zh-CN" altLang="en-US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提供了强大的 </a:t>
            </a:r>
            <a:r>
              <a:rPr lang="en-US" altLang="zh-CN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ACID </a:t>
            </a:r>
            <a:r>
              <a:rPr lang="zh-CN" altLang="en-US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事务支持。</a:t>
            </a:r>
            <a:endParaRPr lang="en-US" altLang="zh-CN" sz="1000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性能缓解：</a:t>
            </a:r>
            <a:r>
              <a:rPr lang="zh-CN" altLang="en-US" sz="10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为缓解“单库”瓶颈，架构中的“数据持久化层”设计了“数据缓存”和“数据库连接池”组件，以满足响应时间要求。</a:t>
            </a:r>
            <a:endParaRPr lang="en-US" altLang="zh-CN" sz="1000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pic>
        <p:nvPicPr>
          <p:cNvPr id="50" name="图片 49" descr="C:\Users\Administrator\Desktop\同济图片\图片1.png图片1">
            <a:extLst>
              <a:ext uri="{FF2B5EF4-FFF2-40B4-BE49-F238E27FC236}">
                <a16:creationId xmlns:a16="http://schemas.microsoft.com/office/drawing/2014/main" id="{01FD2BEC-B364-5D8F-F974-3504D4970C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177530" y="953"/>
            <a:ext cx="965200" cy="965835"/>
          </a:xfrm>
          <a:prstGeom prst="rect">
            <a:avLst/>
          </a:prstGeom>
        </p:spPr>
      </p:pic>
      <p:sp>
        <p:nvSpPr>
          <p:cNvPr id="49" name="MH_Title_1">
            <a:extLst>
              <a:ext uri="{FF2B5EF4-FFF2-40B4-BE49-F238E27FC236}">
                <a16:creationId xmlns:a16="http://schemas.microsoft.com/office/drawing/2014/main" id="{63019856-D612-ADC1-B04E-1F546534908E}"/>
              </a:ext>
            </a:extLst>
          </p:cNvPr>
          <p:cNvSpPr/>
          <p:nvPr/>
        </p:nvSpPr>
        <p:spPr>
          <a:xfrm>
            <a:off x="423228" y="589800"/>
            <a:ext cx="4148772" cy="434816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6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</a:t>
            </a:r>
            <a:r>
              <a:rPr lang="en-US" altLang="zh-CN" sz="16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：数据持久化策略（单库模式）</a:t>
            </a:r>
            <a:endParaRPr lang="zh-CN" altLang="en-US" sz="1600" b="1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8294A039-BF2A-54E0-DC27-BA186CB6DB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216" y="1392905"/>
            <a:ext cx="5974468" cy="944394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0639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  <p:bldP spid="43" grpId="0"/>
      <p:bldP spid="4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紫色花卉商务通用PPT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123</TotalTime>
  <Words>929</Words>
  <Application>Microsoft Office PowerPoint</Application>
  <PresentationFormat>自定义</PresentationFormat>
  <Paragraphs>112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等线</vt:lpstr>
      <vt:lpstr>微软雅黑</vt:lpstr>
      <vt:lpstr>Arial</vt:lpstr>
      <vt:lpstr>Calibri</vt:lpstr>
      <vt:lpstr>Calibri Light</vt:lpstr>
      <vt:lpstr>Lato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欧美风简约商务通用PPT模板</dc:title>
  <dc:creator>樊婷婷</dc:creator>
  <cp:lastModifiedBy>毅成 黄</cp:lastModifiedBy>
  <cp:revision>30</cp:revision>
  <dcterms:created xsi:type="dcterms:W3CDTF">2017-11-05T05:09:00Z</dcterms:created>
  <dcterms:modified xsi:type="dcterms:W3CDTF">2025-11-14T10:15:32Z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2052-11.1.0.9740</vt:lpwstr>
  </property>
</Properties>
</file>