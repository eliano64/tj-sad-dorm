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9C864-5EC0-42AF-4A12-E650308AA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F35211-879F-8B11-D4B9-F6E355C12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C1F2A2-54DF-2ECA-AF63-7A0D6080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5DB2-A72C-47FC-A450-A9732F256F67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174C7B-59C9-8279-F439-237D89647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E30D95-E630-F0D1-D8AE-981394ED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26B3-6BCF-4D45-B5C0-799493D301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203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0DC79-6D91-FB1E-51CA-E2D0C9169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C099C0-1829-B938-2AD8-0C4D1BE14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F2F218-35CF-C73D-F8DC-D8CCC0846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5DB2-A72C-47FC-A450-A9732F256F67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01684-A633-97B9-1F2A-ED76E0A4D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4E693C-F588-F47D-D903-01929715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26B3-6BCF-4D45-B5C0-799493D301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010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6C45A5-5D3B-BB8E-669E-EDDD4A5CA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40A5ED-CA70-A76B-9846-CA8525EB0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E50E23-56C6-4E15-0BDD-AFA3397E9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5DB2-A72C-47FC-A450-A9732F256F67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F42056-C082-8894-D4E0-EA73EC20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2BDCDA-0ACE-85F6-2CE9-129DA9EB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26B3-6BCF-4D45-B5C0-799493D301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64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A56D4-664C-ADFA-A37F-756DB1347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6EB1C8-3265-9FD5-308E-8D6D0FBB8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726AC1-2582-B153-F66E-524D91380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35B413-A1F9-A24A-824E-5780E12B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5DB2-A72C-47FC-A450-A9732F256F67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A15065-F485-3CCC-84C7-0CE69E50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798E52-A26A-3E9C-2475-826CA158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26B3-6BCF-4D45-B5C0-799493D301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219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A9901-8707-8A3B-548D-B2AA523E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9DA4C1-BAB4-AE0C-E7A2-86E1BB77E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E0C8C6-EE81-56EF-8A21-2969CFDF5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E1CEA1-949E-912D-1230-74CB92C94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FD1E6A-D37F-2821-A5E4-FF9F2316B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AD16E1-14DB-F8A7-66C6-EE7267ADB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5DB2-A72C-47FC-A450-A9732F256F67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8545F6-8817-7CB1-F81C-E0BE98C6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1E5FCA-5BF7-099C-3C0A-3FD1ED831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26B3-6BCF-4D45-B5C0-799493D301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994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A1E81-32EA-5C5F-61C8-BAF838CA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8F4C12-442D-5570-1983-0E06C69C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5DB2-A72C-47FC-A450-A9732F256F67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93141E-D824-F4E7-E61E-289BF17B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7941D0-91BD-FCE4-8392-5896A529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26B3-6BCF-4D45-B5C0-799493D301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4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0BAB5F-1FD6-9906-50A0-2230422BD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5DB2-A72C-47FC-A450-A9732F256F67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55CE16-1FE3-7729-90CA-3EDA2B01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B51640-B9D8-0D9D-DBE5-611FA0995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26B3-6BCF-4D45-B5C0-799493D301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224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F703B-A23F-E03E-0100-31C6D99E0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D96589-5A3C-B904-549D-D0A6DC190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956EF8-A380-A827-01DA-28872593B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77DF44-3110-BC55-5DBB-A29A8461F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5DB2-A72C-47FC-A450-A9732F256F67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931FE2-7032-4601-3994-57BDBDF04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97F5E9-BF29-0190-3CBE-EA3EF29C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26B3-6BCF-4D45-B5C0-799493D301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19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304CC-097A-8544-E6B1-FB69E6BE4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4C970C-D307-8B36-D651-B258A3FC3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9D8DC5-4766-E22F-CB03-6E288D643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07407D-905C-75C5-C41D-27C9069EE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5DB2-A72C-47FC-A450-A9732F256F67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6A0A3C-121B-0081-2D0E-09A3E5A6D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C591E9-218D-10BA-DDF1-98BF1FF14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26B3-6BCF-4D45-B5C0-799493D301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698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3D175-1E61-A5BE-3847-40A63987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366616-7716-E106-E62F-A80669C30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8634B9-8CDD-F569-8F15-516636B1D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5DB2-A72C-47FC-A450-A9732F256F67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263C47-9C63-E3D4-8141-7BC0D5F76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30F213-50BC-DF39-DFB3-9F830178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26B3-6BCF-4D45-B5C0-799493D301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229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9B3324-EE6C-F0BA-B0D4-74EFF03D8B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E656E7-5BDD-9CBD-F57E-EF6364139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8D3848-10C6-656F-BD12-DCE27D41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C5DB2-A72C-47FC-A450-A9732F256F67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131611-6DB8-A2FE-5BC8-DD7C3543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DE0113-E99F-F757-0932-53BF1A6EC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926B3-6BCF-4D45-B5C0-799493D301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57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E308BB-D4CB-C0AA-4763-A6F9D9E99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6B6412-5487-B692-D174-4EF0C8E1F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4704E5-4983-7EAD-7519-72409E79BC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C5DB2-A72C-47FC-A450-A9732F256F67}" type="datetimeFigureOut">
              <a:rPr lang="zh-CN" altLang="en-US" smtClean="0"/>
              <a:t>2024/11/2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ED8079-7CC4-D7E6-64E5-D462B3E1D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2C17D6-8FB6-1C8F-BB2D-37170A97A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926B3-6BCF-4D45-B5C0-799493D301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87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50D48-F512-86DC-16BF-A565E9DBD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656"/>
          </a:xfrm>
        </p:spPr>
        <p:txBody>
          <a:bodyPr/>
          <a:lstStyle/>
          <a:p>
            <a:r>
              <a:rPr lang="zh-CN" altLang="en-US" b="1" dirty="0"/>
              <a:t>项目提案</a:t>
            </a:r>
            <a:r>
              <a:rPr lang="en-US" altLang="zh-CN" b="1" dirty="0"/>
              <a:t>(Project Proposal)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C5F1B8-0940-E169-0F21-24057433D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299"/>
            <a:ext cx="10515600" cy="4863664"/>
          </a:xfrm>
        </p:spPr>
        <p:txBody>
          <a:bodyPr>
            <a:normAutofit lnSpcReduction="10000"/>
          </a:bodyPr>
          <a:lstStyle/>
          <a:p>
            <a:r>
              <a:rPr lang="zh-CN" altLang="en-US" sz="2000" b="1" dirty="0"/>
              <a:t>相似产品对比</a:t>
            </a:r>
            <a:endParaRPr lang="en-US" altLang="zh-CN" sz="2000" b="1" dirty="0"/>
          </a:p>
          <a:p>
            <a:pPr lvl="1"/>
            <a:r>
              <a:rPr lang="en-US" altLang="zh-CN" sz="1600" dirty="0" err="1"/>
              <a:t>Roompact</a:t>
            </a:r>
            <a:r>
              <a:rPr lang="en-US" altLang="zh-CN" sz="1600" dirty="0"/>
              <a:t>(</a:t>
            </a:r>
            <a:r>
              <a:rPr lang="zh-CN" altLang="en-US" sz="1600" dirty="0"/>
              <a:t>强调学生之间的关系管理，宿舍方面功能有限</a:t>
            </a:r>
            <a:r>
              <a:rPr lang="en-US" altLang="zh-CN" sz="1600" dirty="0"/>
              <a:t>)</a:t>
            </a:r>
          </a:p>
          <a:p>
            <a:pPr lvl="1"/>
            <a:r>
              <a:rPr lang="en-US" altLang="zh-CN" sz="1600" dirty="0" err="1"/>
              <a:t>StarRez</a:t>
            </a:r>
            <a:r>
              <a:rPr lang="en-US" altLang="zh-CN" sz="1600" dirty="0"/>
              <a:t>(</a:t>
            </a:r>
            <a:r>
              <a:rPr lang="zh-CN" altLang="en-US" sz="1600" dirty="0"/>
              <a:t>界面复杂，学习成本高</a:t>
            </a:r>
            <a:r>
              <a:rPr lang="en-US" altLang="zh-CN" sz="1600" dirty="0"/>
              <a:t>)</a:t>
            </a:r>
          </a:p>
          <a:p>
            <a:pPr lvl="1"/>
            <a:r>
              <a:rPr lang="zh-CN" altLang="en-US" sz="1600" dirty="0"/>
              <a:t>同济大学综合服务门户</a:t>
            </a:r>
            <a:r>
              <a:rPr lang="en-US" altLang="zh-CN" sz="1600" dirty="0"/>
              <a:t>(</a:t>
            </a:r>
            <a:r>
              <a:rPr lang="zh-CN" altLang="en-US" sz="1600" dirty="0"/>
              <a:t>功能不完善，效率低</a:t>
            </a:r>
            <a:r>
              <a:rPr lang="en-US" altLang="zh-CN" sz="1600" dirty="0"/>
              <a:t>)</a:t>
            </a:r>
          </a:p>
          <a:p>
            <a:pPr lvl="1"/>
            <a:endParaRPr lang="en-US" altLang="zh-CN" sz="1600" dirty="0"/>
          </a:p>
          <a:p>
            <a:r>
              <a:rPr lang="zh-CN" altLang="en-US" sz="2000" b="1" dirty="0"/>
              <a:t>创新点与改进点</a:t>
            </a:r>
            <a:endParaRPr lang="en-US" altLang="zh-CN" sz="2000" b="1" dirty="0"/>
          </a:p>
          <a:p>
            <a:pPr lvl="1"/>
            <a:r>
              <a:rPr lang="zh-CN" altLang="en-US" sz="1600" dirty="0"/>
              <a:t>动态资源调度、集成化平台、数据驱动决策、简洁直观的</a:t>
            </a:r>
            <a:r>
              <a:rPr lang="en-US" altLang="zh-CN" sz="1600" dirty="0"/>
              <a:t>UI</a:t>
            </a:r>
            <a:r>
              <a:rPr lang="zh-CN" altLang="en-US" sz="1600" dirty="0"/>
              <a:t>设计</a:t>
            </a:r>
            <a:endParaRPr lang="en-US" altLang="zh-CN" sz="1600" dirty="0"/>
          </a:p>
          <a:p>
            <a:pPr lvl="1"/>
            <a:endParaRPr lang="en-US" altLang="zh-CN" sz="1600" dirty="0"/>
          </a:p>
          <a:p>
            <a:r>
              <a:rPr lang="zh-CN" altLang="en-US" sz="2000" b="1" dirty="0"/>
              <a:t>项目初步规划</a:t>
            </a:r>
            <a:endParaRPr lang="en-US" altLang="zh-CN" sz="2000" b="1" dirty="0"/>
          </a:p>
          <a:p>
            <a:pPr lvl="1"/>
            <a:r>
              <a:rPr lang="zh-CN" altLang="en-US" sz="1600" dirty="0"/>
              <a:t>需求分析与系统设计 → 原型设计与前端开发 → 后端开发与数据库集成 →集成测试与系统优化 → 系统部署与维护</a:t>
            </a:r>
            <a:endParaRPr lang="en-US" altLang="zh-CN" sz="1600" dirty="0"/>
          </a:p>
          <a:p>
            <a:pPr lvl="1"/>
            <a:endParaRPr lang="en-US" altLang="zh-CN" sz="1600" dirty="0"/>
          </a:p>
          <a:p>
            <a:r>
              <a:rPr lang="zh-CN" altLang="en-US" sz="2000" b="1" dirty="0"/>
              <a:t>工程流程和方法</a:t>
            </a:r>
            <a:endParaRPr lang="en-US" altLang="zh-CN" sz="2000" b="1" dirty="0"/>
          </a:p>
          <a:p>
            <a:pPr lvl="1"/>
            <a:r>
              <a:rPr lang="zh-CN" altLang="en-US" sz="1600" dirty="0"/>
              <a:t>敏捷开发方法</a:t>
            </a:r>
            <a:r>
              <a:rPr lang="en-US" altLang="zh-CN" sz="1600" dirty="0"/>
              <a:t>(Agile Approaches)</a:t>
            </a:r>
          </a:p>
          <a:p>
            <a:pPr lvl="1"/>
            <a:r>
              <a:rPr lang="zh-CN" altLang="en-US" sz="1600" dirty="0"/>
              <a:t>面向对象分析与设计</a:t>
            </a:r>
            <a:r>
              <a:rPr lang="en-US" altLang="zh-CN" sz="1600" dirty="0"/>
              <a:t>(Object-Oriented Analysis and </a:t>
            </a:r>
            <a:r>
              <a:rPr lang="en-US" altLang="zh-CN" sz="1600" dirty="0" err="1"/>
              <a:t>Design,OOAD</a:t>
            </a:r>
            <a:r>
              <a:rPr lang="en-US" altLang="zh-CN" sz="1600" dirty="0"/>
              <a:t>)</a:t>
            </a:r>
          </a:p>
          <a:p>
            <a:pPr lvl="1"/>
            <a:r>
              <a:rPr lang="zh-CN" altLang="en-US" sz="1600" dirty="0"/>
              <a:t>面向服务架构</a:t>
            </a:r>
            <a:r>
              <a:rPr lang="en-US" altLang="zh-CN" sz="1600" dirty="0"/>
              <a:t>(Service-Oriented Architecture, SOA)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62960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5C32E-3CD8-8625-C661-B94243937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33D96-8C95-7996-4A61-1A35BD39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656"/>
          </a:xfrm>
        </p:spPr>
        <p:txBody>
          <a:bodyPr/>
          <a:lstStyle/>
          <a:p>
            <a:r>
              <a:rPr lang="zh-CN" altLang="en-US" b="1" i="0" dirty="0">
                <a:effectLst/>
                <a:latin typeface="D-DINExp"/>
              </a:rPr>
              <a:t>需求规格文档</a:t>
            </a:r>
            <a:r>
              <a:rPr lang="en-US" altLang="zh-CN" b="1" dirty="0">
                <a:latin typeface="+mj-ea"/>
              </a:rPr>
              <a:t>(SRS Document)</a:t>
            </a:r>
            <a:endParaRPr lang="zh-CN" altLang="en-US" b="1" dirty="0">
              <a:latin typeface="+mj-ea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CC9DA7-B834-06E0-BF2C-69474CA91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82"/>
            <a:ext cx="10515600" cy="5066181"/>
          </a:xfrm>
        </p:spPr>
        <p:txBody>
          <a:bodyPr/>
          <a:lstStyle/>
          <a:p>
            <a:r>
              <a:rPr lang="zh-CN" altLang="en-US" sz="3200" b="1" dirty="0"/>
              <a:t>项目简介</a:t>
            </a:r>
            <a:r>
              <a:rPr lang="en-US" altLang="zh-CN" sz="3200" b="1" dirty="0"/>
              <a:t>(Introduction)</a:t>
            </a:r>
          </a:p>
          <a:p>
            <a:pPr lvl="1"/>
            <a:r>
              <a:rPr lang="zh-CN" altLang="en-US" dirty="0"/>
              <a:t>项目背景</a:t>
            </a:r>
            <a:endParaRPr lang="en-US" altLang="zh-CN" dirty="0"/>
          </a:p>
          <a:p>
            <a:pPr lvl="2"/>
            <a:r>
              <a:rPr lang="zh-CN" altLang="en-US" dirty="0"/>
              <a:t>现有宿舍系统功能模块分散，缺乏系统集成与智能化的数据分析功能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项目目的</a:t>
            </a:r>
            <a:endParaRPr lang="en-US" altLang="zh-CN" dirty="0"/>
          </a:p>
          <a:p>
            <a:pPr lvl="2"/>
            <a:r>
              <a:rPr lang="zh-CN" altLang="en-US" dirty="0"/>
              <a:t>一个综合性的宿舍管理平台，以提升管理效率并优化学生的居住体验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zh-CN" altLang="en-US" dirty="0"/>
              <a:t>系统功能</a:t>
            </a:r>
            <a:endParaRPr lang="en-US" altLang="zh-CN" dirty="0"/>
          </a:p>
          <a:p>
            <a:pPr lvl="2"/>
            <a:r>
              <a:rPr lang="zh-CN" altLang="en-US" dirty="0"/>
              <a:t>个性化宿舍分配、设施维护管理、自动费用管理、门禁安全监控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系统特点</a:t>
            </a:r>
            <a:endParaRPr lang="en-US" altLang="zh-CN" dirty="0"/>
          </a:p>
          <a:p>
            <a:pPr lvl="2"/>
            <a:r>
              <a:rPr lang="zh-CN" altLang="en-US" dirty="0"/>
              <a:t>高度集成化的功能平台、数据驱动的决策能力以及智能化的资源调度</a:t>
            </a:r>
          </a:p>
        </p:txBody>
      </p:sp>
    </p:spTree>
    <p:extLst>
      <p:ext uri="{BB962C8B-B14F-4D97-AF65-F5344CB8AC3E}">
        <p14:creationId xmlns:p14="http://schemas.microsoft.com/office/powerpoint/2010/main" val="192454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6C1AF-DB66-C9C1-BA7E-2D985050D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CBE438-0F72-4600-65D6-D76AD7F6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656"/>
          </a:xfrm>
        </p:spPr>
        <p:txBody>
          <a:bodyPr/>
          <a:lstStyle/>
          <a:p>
            <a:r>
              <a:rPr lang="zh-CN" altLang="en-US" b="1" dirty="0"/>
              <a:t>用例图</a:t>
            </a:r>
            <a:r>
              <a:rPr lang="en-US" altLang="zh-CN" b="1" dirty="0"/>
              <a:t>(Use Case Diagram)</a:t>
            </a:r>
            <a:endParaRPr lang="zh-CN" altLang="en-US" b="1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3C6A5BC-0DDF-64A9-BAF5-E83938470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10461"/>
            <a:ext cx="5734434" cy="5182413"/>
          </a:xfr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A9FE421-46BB-7739-6BED-0A91CB773119}"/>
              </a:ext>
            </a:extLst>
          </p:cNvPr>
          <p:cNvSpPr txBox="1"/>
          <p:nvPr/>
        </p:nvSpPr>
        <p:spPr>
          <a:xfrm>
            <a:off x="7149502" y="1765021"/>
            <a:ext cx="3878529" cy="427809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b="1" dirty="0"/>
              <a:t>管理员：</a:t>
            </a:r>
            <a:r>
              <a:rPr lang="zh-CN" altLang="en-US" sz="1600" dirty="0"/>
              <a:t>维护系统，可对所有信息进行管理。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b="1" dirty="0"/>
              <a:t>智能分配系统：</a:t>
            </a:r>
            <a:r>
              <a:rPr lang="zh-CN" altLang="en-US" sz="1600" dirty="0"/>
              <a:t>分配宿舍、分配维修任务</a:t>
            </a:r>
            <a:endParaRPr lang="zh-CN" altLang="en-US" sz="1600" b="1" dirty="0"/>
          </a:p>
          <a:p>
            <a:endParaRPr lang="zh-CN" altLang="en-US" sz="1600" dirty="0"/>
          </a:p>
          <a:p>
            <a:r>
              <a:rPr lang="zh-CN" altLang="en-US" sz="1600" b="1" dirty="0"/>
              <a:t>学生：</a:t>
            </a:r>
            <a:r>
              <a:rPr lang="zh-CN" altLang="en-US" sz="1600" dirty="0"/>
              <a:t>登记个人信息、查询宿舍分配、提交换宿申请与维修申请、缴纳费用等。</a:t>
            </a:r>
          </a:p>
          <a:p>
            <a:endParaRPr lang="zh-CN" altLang="en-US" sz="1600" dirty="0"/>
          </a:p>
          <a:p>
            <a:r>
              <a:rPr lang="zh-CN" altLang="en-US" sz="1600" b="1" dirty="0"/>
              <a:t>宿管人员：</a:t>
            </a:r>
            <a:r>
              <a:rPr lang="zh-CN" altLang="en-US" sz="1600" dirty="0"/>
              <a:t>管理宿舍分配、处理各类申请、审核费用缴纳情况、发布宿舍通知、登记事物等。 </a:t>
            </a:r>
          </a:p>
          <a:p>
            <a:endParaRPr lang="zh-CN" altLang="en-US" sz="1600" dirty="0"/>
          </a:p>
          <a:p>
            <a:r>
              <a:rPr lang="zh-CN" altLang="en-US" sz="1600" b="1" dirty="0"/>
              <a:t>维修人员：</a:t>
            </a:r>
            <a:r>
              <a:rPr lang="zh-CN" altLang="en-US" sz="1600" dirty="0"/>
              <a:t>接收维修任务、更新维修进度。 </a:t>
            </a:r>
          </a:p>
          <a:p>
            <a:endParaRPr lang="zh-CN" altLang="en-US" sz="1600" dirty="0"/>
          </a:p>
          <a:p>
            <a:r>
              <a:rPr lang="zh-CN" altLang="en-US" sz="1600" b="1" dirty="0"/>
              <a:t>访客：</a:t>
            </a:r>
            <a:r>
              <a:rPr lang="zh-CN" altLang="en-US" sz="1600" dirty="0"/>
              <a:t>提交访客申请。</a:t>
            </a:r>
            <a:endParaRPr lang="en-US" altLang="zh-CN" sz="1600" dirty="0"/>
          </a:p>
          <a:p>
            <a:endParaRPr lang="en-US" altLang="zh-CN" sz="1600" dirty="0"/>
          </a:p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80724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C68C-5346-24D4-52C6-CEE837E1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F5B26-C89A-8C5A-F137-0CBBA456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656"/>
          </a:xfrm>
        </p:spPr>
        <p:txBody>
          <a:bodyPr/>
          <a:lstStyle/>
          <a:p>
            <a:r>
              <a:rPr lang="zh-CN" altLang="en-US" b="1" dirty="0"/>
              <a:t>活动图</a:t>
            </a:r>
            <a:r>
              <a:rPr lang="en-US" altLang="zh-CN" b="1" dirty="0"/>
              <a:t>(Activity Diagram)</a:t>
            </a:r>
            <a:endParaRPr lang="zh-CN" altLang="en-US" b="1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8EAF5E67-E3DD-C2A6-7078-70F7E3C9B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311" y="1725869"/>
            <a:ext cx="3280991" cy="5036172"/>
          </a:xfr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DAAD18B-1660-EF8F-BB56-542B9D318A2B}"/>
              </a:ext>
            </a:extLst>
          </p:cNvPr>
          <p:cNvSpPr txBox="1"/>
          <p:nvPr/>
        </p:nvSpPr>
        <p:spPr>
          <a:xfrm>
            <a:off x="1125312" y="1264204"/>
            <a:ext cx="3860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登录和注册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D77B86-B5DD-3701-80DF-116FE70F3971}"/>
              </a:ext>
            </a:extLst>
          </p:cNvPr>
          <p:cNvSpPr txBox="1"/>
          <p:nvPr/>
        </p:nvSpPr>
        <p:spPr>
          <a:xfrm>
            <a:off x="5881208" y="2756870"/>
            <a:ext cx="5115928" cy="20313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系统内部用户（学生和宿管）首次使用时需注册，填写学号</a:t>
            </a:r>
            <a:r>
              <a:rPr lang="en-US" altLang="zh-CN" dirty="0"/>
              <a:t>/</a:t>
            </a:r>
            <a:r>
              <a:rPr lang="zh-CN" altLang="en-US" dirty="0"/>
              <a:t>工号、姓名、所属学院</a:t>
            </a:r>
            <a:r>
              <a:rPr lang="en-US" altLang="zh-CN" dirty="0"/>
              <a:t>/</a:t>
            </a:r>
            <a:r>
              <a:rPr lang="zh-CN" altLang="en-US" dirty="0"/>
              <a:t>宿舍楼、校园邮箱和登录密码等信息。系统验证信息有效后授予权限，用户可用学号</a:t>
            </a:r>
            <a:r>
              <a:rPr lang="en-US" altLang="zh-CN" dirty="0"/>
              <a:t>/</a:t>
            </a:r>
            <a:r>
              <a:rPr lang="zh-CN" altLang="en-US" dirty="0"/>
              <a:t>工号和密码登录。如需更新密码或忘记原密码，可申请修改。提交申请后，系统向校园邮箱发送验证码，用户输入验证码后可设置新密码。</a:t>
            </a:r>
          </a:p>
        </p:txBody>
      </p:sp>
    </p:spTree>
    <p:extLst>
      <p:ext uri="{BB962C8B-B14F-4D97-AF65-F5344CB8AC3E}">
        <p14:creationId xmlns:p14="http://schemas.microsoft.com/office/powerpoint/2010/main" val="1501945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E9260-90F7-6A77-DF50-DDAAFD7E5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E1C4F-EC5E-D90D-022B-43CECA9EF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656"/>
          </a:xfrm>
        </p:spPr>
        <p:txBody>
          <a:bodyPr/>
          <a:lstStyle/>
          <a:p>
            <a:r>
              <a:rPr lang="zh-CN" altLang="en-US" b="1" dirty="0"/>
              <a:t>活动图</a:t>
            </a:r>
            <a:r>
              <a:rPr lang="en-US" altLang="zh-CN" b="1" dirty="0"/>
              <a:t>(Activity Diagram)</a:t>
            </a:r>
            <a:endParaRPr lang="zh-CN" altLang="en-US" b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ED8845F-E932-6053-E4E2-E738E7F76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71959"/>
            <a:ext cx="4547363" cy="405241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AE07A03-39D5-4A1D-3C55-EA84826AA6AB}"/>
              </a:ext>
            </a:extLst>
          </p:cNvPr>
          <p:cNvSpPr txBox="1"/>
          <p:nvPr/>
        </p:nvSpPr>
        <p:spPr>
          <a:xfrm>
            <a:off x="838200" y="1210538"/>
            <a:ext cx="3860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宿舍分配与信息查看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D7B71D-A3A4-8991-EF8A-8442E7CE3E97}"/>
              </a:ext>
            </a:extLst>
          </p:cNvPr>
          <p:cNvSpPr txBox="1"/>
          <p:nvPr/>
        </p:nvSpPr>
        <p:spPr>
          <a:xfrm>
            <a:off x="6096000" y="2747728"/>
            <a:ext cx="5701192" cy="175432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学生登录后可填写和更新个人信息，包括生活习惯、兴趣、性格及希望的室友。系统在大规模换宿时会分析信息，自动为离开的学生退宿，并为新生分配合适的室友和宿舍，结果发送给宿管。宿管可修改分配结果或确认，系统随后更新宿舍数据。分配完成后，学生可查看宿舍信息，如宿舍楼、房间号、床位和室友信息。</a:t>
            </a:r>
          </a:p>
        </p:txBody>
      </p:sp>
    </p:spTree>
    <p:extLst>
      <p:ext uri="{BB962C8B-B14F-4D97-AF65-F5344CB8AC3E}">
        <p14:creationId xmlns:p14="http://schemas.microsoft.com/office/powerpoint/2010/main" val="2823622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497</Words>
  <Application>Microsoft Office PowerPoint</Application>
  <PresentationFormat>宽屏</PresentationFormat>
  <Paragraphs>47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D-DINExp</vt:lpstr>
      <vt:lpstr>等线</vt:lpstr>
      <vt:lpstr>等线 Light</vt:lpstr>
      <vt:lpstr>Arial</vt:lpstr>
      <vt:lpstr>Office 主题​​</vt:lpstr>
      <vt:lpstr>项目提案(Project Proposal)</vt:lpstr>
      <vt:lpstr>需求规格文档(SRS Document)</vt:lpstr>
      <vt:lpstr>用例图(Use Case Diagram)</vt:lpstr>
      <vt:lpstr>活动图(Activity Diagram)</vt:lpstr>
      <vt:lpstr>活动图(Activity Diagram)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扬 张</dc:creator>
  <cp:lastModifiedBy>扬 张</cp:lastModifiedBy>
  <cp:revision>3</cp:revision>
  <dcterms:created xsi:type="dcterms:W3CDTF">2024-10-30T11:51:39Z</dcterms:created>
  <dcterms:modified xsi:type="dcterms:W3CDTF">2024-11-02T13:05:19Z</dcterms:modified>
</cp:coreProperties>
</file>